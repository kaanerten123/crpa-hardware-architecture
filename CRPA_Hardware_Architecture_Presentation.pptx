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Arimo Bold" panose="020B0604020202020204" charset="0"/>
      <p:regular r:id="rId17"/>
    </p:embeddedFont>
    <p:embeddedFont>
      <p:font typeface="Open Sauce" panose="020B0604020202020204" charset="0"/>
      <p:regular r:id="rId18"/>
    </p:embeddedFont>
    <p:embeddedFont>
      <p:font typeface="Open Sauce Bold" panose="020B0604020202020204" charset="0"/>
      <p:regular r:id="rId19"/>
    </p:embeddedFont>
    <p:embeddedFont>
      <p:font typeface="Open Sauce Bold Italics" panose="020B0604020202020204" charset="0"/>
      <p:regular r:id="rId20"/>
    </p:embeddedFont>
    <p:embeddedFont>
      <p:font typeface="Open Sauce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99" dt="2026-10-06T07:52:42.015"/>
    <p1510:client id="{805965E2-9A93-A6F0-B143-C70839652E0A}" v="49" dt="2026-10-05T23:50:30.432"/>
    <p1510:client id="{93044E2F-CF90-6599-3E9F-14623F7D81EE}" v="86" dt="2026-10-06T10:16:48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6786" y="1764268"/>
            <a:ext cx="15354428" cy="337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13040" b="1" spc="-782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CRPA Hardware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212929"/>
            <a:ext cx="7816089" cy="40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9"/>
              </a:lnSpc>
            </a:pPr>
            <a:r>
              <a:rPr lang="en-US" sz="235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CRPA Hardware Architecture – Interview Assignment</a:t>
            </a:r>
            <a:endParaRPr lang="tr-TR" sz="2350" dirty="0"/>
          </a:p>
        </p:txBody>
      </p:sp>
      <p:sp>
        <p:nvSpPr>
          <p:cNvPr id="4" name="TextBox 4"/>
          <p:cNvSpPr txBox="1"/>
          <p:nvPr/>
        </p:nvSpPr>
        <p:spPr>
          <a:xfrm>
            <a:off x="3375977" y="5522736"/>
            <a:ext cx="11551285" cy="592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8"/>
              </a:lnSpc>
              <a:spcBef>
                <a:spcPct val="0"/>
              </a:spcBef>
            </a:pPr>
            <a:r>
              <a:rPr lang="en-US" sz="34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Multi-Band Anti-Jam Antenna Unit for Tactical UAV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70407"/>
            <a:ext cx="7816089" cy="40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9"/>
              </a:lnSpc>
              <a:spcBef>
                <a:spcPct val="0"/>
              </a:spcBef>
            </a:pPr>
            <a:r>
              <a:rPr lang="en-US" sz="23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Cevat Kaan ERTEN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53385"/>
            <a:ext cx="4147998" cy="394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9"/>
              </a:lnSpc>
              <a:spcBef>
                <a:spcPct val="0"/>
              </a:spcBef>
            </a:pPr>
            <a:r>
              <a:rPr lang="en-US" sz="23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ROKETSAN, 2026</a:t>
            </a:r>
            <a:endParaRPr lang="tr-TR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4780" y="2217297"/>
            <a:ext cx="4894581" cy="5743909"/>
            <a:chOff x="0" y="0"/>
            <a:chExt cx="1400936" cy="1644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0936" cy="1644033"/>
            </a:xfrm>
            <a:custGeom>
              <a:avLst/>
              <a:gdLst/>
              <a:ahLst/>
              <a:cxnLst/>
              <a:rect l="l" t="t" r="r" b="b"/>
              <a:pathLst>
                <a:path w="1400936" h="1644033">
                  <a:moveTo>
                    <a:pt x="80668" y="0"/>
                  </a:moveTo>
                  <a:lnTo>
                    <a:pt x="1320268" y="0"/>
                  </a:lnTo>
                  <a:cubicBezTo>
                    <a:pt x="1341663" y="0"/>
                    <a:pt x="1362181" y="8499"/>
                    <a:pt x="1377309" y="23627"/>
                  </a:cubicBezTo>
                  <a:cubicBezTo>
                    <a:pt x="1392437" y="38755"/>
                    <a:pt x="1400936" y="59274"/>
                    <a:pt x="1400936" y="80668"/>
                  </a:cubicBezTo>
                  <a:lnTo>
                    <a:pt x="1400936" y="1563364"/>
                  </a:lnTo>
                  <a:cubicBezTo>
                    <a:pt x="1400936" y="1584759"/>
                    <a:pt x="1392437" y="1605277"/>
                    <a:pt x="1377309" y="1620406"/>
                  </a:cubicBezTo>
                  <a:cubicBezTo>
                    <a:pt x="1362181" y="1635534"/>
                    <a:pt x="1341663" y="1644033"/>
                    <a:pt x="1320268" y="1644033"/>
                  </a:cubicBezTo>
                  <a:lnTo>
                    <a:pt x="80668" y="1644033"/>
                  </a:lnTo>
                  <a:cubicBezTo>
                    <a:pt x="59274" y="1644033"/>
                    <a:pt x="38755" y="1635534"/>
                    <a:pt x="23627" y="1620406"/>
                  </a:cubicBezTo>
                  <a:cubicBezTo>
                    <a:pt x="8499" y="1605277"/>
                    <a:pt x="0" y="1584759"/>
                    <a:pt x="0" y="1563364"/>
                  </a:cubicBezTo>
                  <a:lnTo>
                    <a:pt x="0" y="80668"/>
                  </a:lnTo>
                  <a:cubicBezTo>
                    <a:pt x="0" y="59274"/>
                    <a:pt x="8499" y="38755"/>
                    <a:pt x="23627" y="23627"/>
                  </a:cubicBezTo>
                  <a:cubicBezTo>
                    <a:pt x="38755" y="8499"/>
                    <a:pt x="59274" y="0"/>
                    <a:pt x="80668" y="0"/>
                  </a:cubicBez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00936" cy="1691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68639" y="2217297"/>
            <a:ext cx="4894581" cy="5743909"/>
            <a:chOff x="0" y="0"/>
            <a:chExt cx="1400936" cy="16440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0936" cy="1644033"/>
            </a:xfrm>
            <a:custGeom>
              <a:avLst/>
              <a:gdLst/>
              <a:ahLst/>
              <a:cxnLst/>
              <a:rect l="l" t="t" r="r" b="b"/>
              <a:pathLst>
                <a:path w="1400936" h="1644033">
                  <a:moveTo>
                    <a:pt x="80668" y="0"/>
                  </a:moveTo>
                  <a:lnTo>
                    <a:pt x="1320268" y="0"/>
                  </a:lnTo>
                  <a:cubicBezTo>
                    <a:pt x="1341663" y="0"/>
                    <a:pt x="1362181" y="8499"/>
                    <a:pt x="1377309" y="23627"/>
                  </a:cubicBezTo>
                  <a:cubicBezTo>
                    <a:pt x="1392437" y="38755"/>
                    <a:pt x="1400936" y="59274"/>
                    <a:pt x="1400936" y="80668"/>
                  </a:cubicBezTo>
                  <a:lnTo>
                    <a:pt x="1400936" y="1563364"/>
                  </a:lnTo>
                  <a:cubicBezTo>
                    <a:pt x="1400936" y="1584759"/>
                    <a:pt x="1392437" y="1605277"/>
                    <a:pt x="1377309" y="1620406"/>
                  </a:cubicBezTo>
                  <a:cubicBezTo>
                    <a:pt x="1362181" y="1635534"/>
                    <a:pt x="1341663" y="1644033"/>
                    <a:pt x="1320268" y="1644033"/>
                  </a:cubicBezTo>
                  <a:lnTo>
                    <a:pt x="80668" y="1644033"/>
                  </a:lnTo>
                  <a:cubicBezTo>
                    <a:pt x="59274" y="1644033"/>
                    <a:pt x="38755" y="1635534"/>
                    <a:pt x="23627" y="1620406"/>
                  </a:cubicBezTo>
                  <a:cubicBezTo>
                    <a:pt x="8499" y="1605277"/>
                    <a:pt x="0" y="1584759"/>
                    <a:pt x="0" y="1563364"/>
                  </a:cubicBezTo>
                  <a:lnTo>
                    <a:pt x="0" y="80668"/>
                  </a:lnTo>
                  <a:cubicBezTo>
                    <a:pt x="0" y="59274"/>
                    <a:pt x="8499" y="38755"/>
                    <a:pt x="23627" y="23627"/>
                  </a:cubicBezTo>
                  <a:cubicBezTo>
                    <a:pt x="38755" y="8499"/>
                    <a:pt x="59274" y="0"/>
                    <a:pt x="80668" y="0"/>
                  </a:cubicBez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00936" cy="1691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02495" y="719231"/>
            <a:ext cx="13776330" cy="820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4"/>
              </a:lnSpc>
              <a:spcBef>
                <a:spcPct val="0"/>
              </a:spcBef>
            </a:pPr>
            <a:r>
              <a:rPr lang="en-US" sz="499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Definition &amp; Design Constraints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7231" y="2569919"/>
            <a:ext cx="3509680" cy="56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7"/>
              </a:lnSpc>
              <a:spcBef>
                <a:spcPct val="0"/>
              </a:spcBef>
            </a:pPr>
            <a:r>
              <a:rPr lang="en-US" sz="331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24780" y="3361391"/>
            <a:ext cx="4894581" cy="40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Tactical UAV platform</a:t>
            </a:r>
          </a:p>
          <a:p>
            <a:pPr algn="l">
              <a:lnSpc>
                <a:spcPts val="2705"/>
              </a:lnSpc>
            </a:pPr>
            <a:endParaRPr lang="en-US" sz="1932">
              <a:solidFill>
                <a:srgbClr val="E6CEB7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Multi-band GNSS reception</a:t>
            </a:r>
          </a:p>
          <a:p>
            <a:pPr algn="l">
              <a:lnSpc>
                <a:spcPts val="2705"/>
              </a:lnSpc>
            </a:pPr>
            <a:endParaRPr lang="en-US" sz="1932">
              <a:solidFill>
                <a:srgbClr val="E6CEB7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Anti-jam CRPA processing</a:t>
            </a:r>
          </a:p>
          <a:p>
            <a:pPr algn="l">
              <a:lnSpc>
                <a:spcPts val="2705"/>
              </a:lnSpc>
            </a:pPr>
            <a:endParaRPr lang="en-US" sz="1932">
              <a:solidFill>
                <a:srgbClr val="E6CEB7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Spatial interference suppression</a:t>
            </a:r>
          </a:p>
          <a:p>
            <a:pPr algn="l">
              <a:lnSpc>
                <a:spcPts val="2705"/>
              </a:lnSpc>
            </a:pPr>
            <a:endParaRPr lang="en-US" sz="1932">
              <a:solidFill>
                <a:srgbClr val="E6CEB7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Beamformed RF output</a:t>
            </a:r>
          </a:p>
          <a:p>
            <a:pPr algn="l">
              <a:lnSpc>
                <a:spcPts val="2705"/>
              </a:lnSpc>
            </a:pPr>
            <a:endParaRPr lang="en-US" sz="1932">
              <a:solidFill>
                <a:srgbClr val="E6CEB7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Compatible with existing GNSS receiver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87617" y="2569920"/>
            <a:ext cx="5256624" cy="54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37"/>
              </a:lnSpc>
              <a:spcBef>
                <a:spcPct val="0"/>
              </a:spcBef>
            </a:pPr>
            <a:r>
              <a:rPr lang="en-US" sz="331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CONSTRAINTS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68639" y="3449038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8-element reference array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8639" y="3917072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Array diameter ≤ 35 cm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8639" y="4382476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Antenna–DACU cable &lt; 60 cm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8639" y="4850509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DACU mass ≤ 2 kg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8639" y="5318543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Power ≤ 50 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68639" y="5786577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28 V DC supply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68639" y="6254610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5" lvl="1" indent="-208280">
              <a:lnSpc>
                <a:spcPts val="2705"/>
              </a:lnSpc>
              <a:buFont typeface="Arial"/>
              <a:buChar char="•"/>
            </a:pPr>
            <a:r>
              <a:rPr lang="en-US" sz="1900" dirty="0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Operating temperature: −40 to +71 °C </a:t>
            </a:r>
            <a:endParaRPr lang="en-US" dirty="0"/>
          </a:p>
        </p:txBody>
      </p:sp>
      <p:sp>
        <p:nvSpPr>
          <p:cNvPr id="19" name="TextBox 19"/>
          <p:cNvSpPr txBox="1"/>
          <p:nvPr/>
        </p:nvSpPr>
        <p:spPr>
          <a:xfrm>
            <a:off x="9868639" y="6722644"/>
            <a:ext cx="4894581" cy="3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E6CEB7"/>
                </a:solidFill>
                <a:latin typeface="Open Sauce"/>
                <a:ea typeface="Open Sauce"/>
                <a:cs typeface="Open Sauce"/>
                <a:sym typeface="Open Sauce"/>
              </a:rPr>
              <a:t>Conduction cooling only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35641" y="8723206"/>
            <a:ext cx="2751791" cy="52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Antenna Array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0241" y="8738446"/>
            <a:ext cx="1342986" cy="505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DACU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66517" y="8753686"/>
            <a:ext cx="4893562" cy="513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3"/>
              </a:lnSpc>
              <a:spcBef>
                <a:spcPct val="0"/>
              </a:spcBef>
            </a:pPr>
            <a:r>
              <a:rPr lang="en-US" sz="31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GNSS Receiver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868942" y="9016209"/>
            <a:ext cx="2176469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10102418" y="9046792"/>
            <a:ext cx="2176469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4017467" y="6467384"/>
            <a:ext cx="891762" cy="891762"/>
          </a:xfrm>
          <a:custGeom>
            <a:avLst/>
            <a:gdLst/>
            <a:ahLst/>
            <a:cxnLst/>
            <a:rect l="l" t="t" r="r" b="b"/>
            <a:pathLst>
              <a:path w="891762" h="891762">
                <a:moveTo>
                  <a:pt x="891762" y="891762"/>
                </a:moveTo>
                <a:lnTo>
                  <a:pt x="0" y="891762"/>
                </a:lnTo>
                <a:lnTo>
                  <a:pt x="0" y="0"/>
                </a:lnTo>
                <a:lnTo>
                  <a:pt x="891762" y="0"/>
                </a:lnTo>
                <a:lnTo>
                  <a:pt x="891762" y="89176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7001" y="8544501"/>
            <a:ext cx="1281636" cy="1281636"/>
          </a:xfrm>
          <a:custGeom>
            <a:avLst/>
            <a:gdLst/>
            <a:ahLst/>
            <a:cxnLst/>
            <a:rect l="l" t="t" r="r" b="b"/>
            <a:pathLst>
              <a:path w="1281636" h="1281636">
                <a:moveTo>
                  <a:pt x="0" y="0"/>
                </a:moveTo>
                <a:lnTo>
                  <a:pt x="1281636" y="0"/>
                </a:lnTo>
                <a:lnTo>
                  <a:pt x="1281636" y="1281636"/>
                </a:lnTo>
                <a:lnTo>
                  <a:pt x="0" y="1281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49549" y="8471520"/>
            <a:ext cx="1427598" cy="1427598"/>
          </a:xfrm>
          <a:custGeom>
            <a:avLst/>
            <a:gdLst/>
            <a:ahLst/>
            <a:cxnLst/>
            <a:rect l="l" t="t" r="r" b="b"/>
            <a:pathLst>
              <a:path w="1427598" h="1427598">
                <a:moveTo>
                  <a:pt x="0" y="0"/>
                </a:moveTo>
                <a:lnTo>
                  <a:pt x="1427598" y="0"/>
                </a:lnTo>
                <a:lnTo>
                  <a:pt x="1427598" y="1427598"/>
                </a:lnTo>
                <a:lnTo>
                  <a:pt x="0" y="142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34645" y="923925"/>
            <a:ext cx="801871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CRPA Operating Principle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626" y="2191305"/>
            <a:ext cx="3743278" cy="745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5"/>
              </a:lnSpc>
              <a:spcBef>
                <a:spcPct val="0"/>
              </a:spcBef>
            </a:pPr>
            <a:r>
              <a:rPr lang="en-US" sz="4350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it works</a:t>
            </a:r>
            <a:r>
              <a:rPr lang="en-US" sz="43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028707" y="3279966"/>
            <a:ext cx="1377460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Multiple antenna elements receive the same signals with different phase relationships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7" y="3898851"/>
            <a:ext cx="1163409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Each channel is multiplied by a complex weight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7" y="4532859"/>
            <a:ext cx="1163409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Weighted signals are coherently combined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7" y="5166867"/>
            <a:ext cx="1163409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Interference is cancelled in selected spatial directions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7" y="5800874"/>
            <a:ext cx="1163409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GNSS signals from other directions are preserved as much as possible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80957" y="8727054"/>
            <a:ext cx="416272" cy="82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7"/>
              </a:lnSpc>
              <a:spcBef>
                <a:spcPct val="0"/>
              </a:spcBef>
            </a:pPr>
            <a:r>
              <a:rPr lang="en-US" sz="4791" dirty="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X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097229" y="9185319"/>
            <a:ext cx="65232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 flipV="1">
            <a:off x="2028637" y="9185319"/>
            <a:ext cx="65232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4463348" y="7359146"/>
            <a:ext cx="0" cy="1112374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 flipV="1">
            <a:off x="5177147" y="9184087"/>
            <a:ext cx="1009650" cy="123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7" name="TextBox 17"/>
          <p:cNvSpPr txBox="1"/>
          <p:nvPr/>
        </p:nvSpPr>
        <p:spPr>
          <a:xfrm>
            <a:off x="6186797" y="8827628"/>
            <a:ext cx="2329195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Complex Weights</a:t>
            </a:r>
          </a:p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w1,w2,w3,...,w8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642" y="8903828"/>
            <a:ext cx="2715518" cy="67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Weighted Combination</a:t>
            </a:r>
            <a:endParaRPr lang="en-US" sz="1900" dirty="0"/>
          </a:p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y(t) = Σ </a:t>
            </a:r>
            <a:r>
              <a:rPr lang="en-US" sz="19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wₙx</a:t>
            </a: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ₙ(t)</a:t>
            </a:r>
            <a:endParaRPr lang="en-US" sz="190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515992" y="9184087"/>
            <a:ext cx="100965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0" name="TextBox 20"/>
          <p:cNvSpPr txBox="1"/>
          <p:nvPr/>
        </p:nvSpPr>
        <p:spPr>
          <a:xfrm>
            <a:off x="12885050" y="8920300"/>
            <a:ext cx="4894600" cy="662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Beamformed RF Output</a:t>
            </a:r>
            <a:endParaRPr lang="en-US" sz="1932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(Interference-Suppressed RF Output)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2241160" y="9184087"/>
            <a:ext cx="1009650" cy="123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22890"/>
              </p:ext>
            </p:extLst>
          </p:nvPr>
        </p:nvGraphicFramePr>
        <p:xfrm>
          <a:off x="320040" y="2209800"/>
          <a:ext cx="13540378" cy="6321932"/>
        </p:xfrm>
        <a:graphic>
          <a:graphicData uri="http://schemas.openxmlformats.org/drawingml/2006/table">
            <a:tbl>
              <a:tblPr/>
              <a:tblGrid>
                <a:gridCol w="1295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89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3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78279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Group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System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Center Frequencies [MHz]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Signals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Required RF Coverage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Main-Lobe BW</a:t>
                      </a:r>
                      <a:endParaRPr lang="en-US" sz="1900" dirty="0"/>
                    </a:p>
                    <a:p>
                      <a:pPr algn="ctr">
                        <a:lnSpc>
                          <a:spcPts val="2705"/>
                        </a:lnSpc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[MHz]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938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L1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GPS, Galileo, BeiDou, GLONASS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1575.420, 1575.420, 1561.098,</a:t>
                      </a:r>
                      <a:endParaRPr lang="en-US" sz="1900" dirty="0"/>
                    </a:p>
                    <a:p>
                      <a:pPr algn="ctr">
                        <a:lnSpc>
                          <a:spcPts val="2705"/>
                        </a:lnSpc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1602+k·0.5625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L1 C/A, E1 OS, B1I, G1 C/A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1559.052–1605.886 MHz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2.046 / 14.322 / 4.092 / 1.022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938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L2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GPS, Galileo, BeiDou, GLONASS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1227.600, 1207.140, 1207.140, 1246+k·0.4375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L2C, E5b, B2I,</a:t>
                      </a:r>
                      <a:endParaRPr lang="en-US" sz="1100"/>
                    </a:p>
                    <a:p>
                      <a:pPr algn="ctr">
                        <a:lnSpc>
                          <a:spcPts val="2705"/>
                        </a:lnSpc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G2 C/A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1196.910–1249.136 MHz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2.046 / 20.460 / 4.092 / 1.022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959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L5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GPS, Galileo, BeiDou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1176.450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L5, E5a, B2a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1166.220–1186.680 MHz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20.460</a:t>
                      </a:r>
                      <a:endParaRPr lang="en-US" sz="19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332425" y="8701250"/>
            <a:ext cx="3514724" cy="1493522"/>
            <a:chOff x="0" y="0"/>
            <a:chExt cx="1130394" cy="3893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0394" cy="389342"/>
            </a:xfrm>
            <a:custGeom>
              <a:avLst/>
              <a:gdLst/>
              <a:ahLst/>
              <a:cxnLst/>
              <a:rect l="l" t="t" r="r" b="b"/>
              <a:pathLst>
                <a:path w="1130394" h="389342">
                  <a:moveTo>
                    <a:pt x="0" y="0"/>
                  </a:moveTo>
                  <a:lnTo>
                    <a:pt x="1130394" y="0"/>
                  </a:lnTo>
                  <a:lnTo>
                    <a:pt x="1130394" y="389342"/>
                  </a:lnTo>
                  <a:lnTo>
                    <a:pt x="0" y="389342"/>
                  </a:ln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30394" cy="427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02846" y="786765"/>
            <a:ext cx="12282309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GNSS Signals &amp; Frequency Coverage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58072" y="1651494"/>
            <a:ext cx="8834892" cy="39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3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Signal Groups and Required RF Coverage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6858" y="8609999"/>
            <a:ext cx="3514724" cy="1676212"/>
            <a:chOff x="0" y="-23788"/>
            <a:chExt cx="1130394" cy="436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0394" cy="389342"/>
            </a:xfrm>
            <a:custGeom>
              <a:avLst/>
              <a:gdLst/>
              <a:ahLst/>
              <a:cxnLst/>
              <a:rect l="l" t="t" r="r" b="b"/>
              <a:pathLst>
                <a:path w="1130394" h="389342">
                  <a:moveTo>
                    <a:pt x="0" y="0"/>
                  </a:moveTo>
                  <a:lnTo>
                    <a:pt x="1130394" y="0"/>
                  </a:lnTo>
                  <a:lnTo>
                    <a:pt x="1130394" y="389342"/>
                  </a:lnTo>
                  <a:lnTo>
                    <a:pt x="0" y="389342"/>
                  </a:ln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3788"/>
              <a:ext cx="1130394" cy="43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L2 BAND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52.226 MHz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Required RF Coverage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7367" y="8577237"/>
            <a:ext cx="3514724" cy="1676212"/>
            <a:chOff x="0" y="-23788"/>
            <a:chExt cx="1130394" cy="4369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0394" cy="389342"/>
            </a:xfrm>
            <a:custGeom>
              <a:avLst/>
              <a:gdLst/>
              <a:ahLst/>
              <a:cxnLst/>
              <a:rect l="l" t="t" r="r" b="b"/>
              <a:pathLst>
                <a:path w="1130394" h="389342">
                  <a:moveTo>
                    <a:pt x="0" y="0"/>
                  </a:moveTo>
                  <a:lnTo>
                    <a:pt x="1130394" y="0"/>
                  </a:lnTo>
                  <a:lnTo>
                    <a:pt x="1130394" y="389342"/>
                  </a:lnTo>
                  <a:lnTo>
                    <a:pt x="0" y="389342"/>
                  </a:ln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3788"/>
              <a:ext cx="1130394" cy="436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L5 BAND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20.460 MHz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  <a:p>
              <a:pPr algn="ctr">
                <a:lnSpc>
                  <a:spcPts val="3457"/>
                </a:lnSpc>
              </a:pPr>
              <a:r>
                <a:rPr lang="en-US" sz="2000" b="1" dirty="0">
                  <a:solidFill>
                    <a:srgbClr val="E6CEB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Required RF Coverage</a:t>
              </a:r>
              <a:endPara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4855" y="8766973"/>
            <a:ext cx="3934624" cy="1293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L1 BAND</a:t>
            </a:r>
            <a:endParaRPr lang="en-US" sz="2000" b="1" dirty="0">
              <a:solidFill>
                <a:srgbClr val="E6CEB7"/>
              </a:solidFill>
              <a:latin typeface="Open Sauce Bold"/>
              <a:ea typeface="Open Sauce Bold"/>
              <a:cs typeface="Open Sauce Bold"/>
            </a:endParaRPr>
          </a:p>
          <a:p>
            <a:pPr algn="ctr">
              <a:lnSpc>
                <a:spcPts val="3464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46.834 MHz</a:t>
            </a:r>
            <a:endParaRPr lang="en-US" sz="2000" b="1" dirty="0">
              <a:solidFill>
                <a:srgbClr val="E6CEB7"/>
              </a:solidFill>
              <a:latin typeface="Open Sauce Bold"/>
              <a:ea typeface="Open Sauce Bold"/>
              <a:cs typeface="Open Sauce Bold"/>
            </a:endParaRPr>
          </a:p>
          <a:p>
            <a:pPr algn="ctr">
              <a:lnSpc>
                <a:spcPts val="3464"/>
              </a:lnSpc>
            </a:pPr>
            <a:r>
              <a:rPr lang="en-US" sz="2000" b="1" dirty="0">
                <a:solidFill>
                  <a:srgbClr val="E6CEB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Required RF Coverage</a:t>
            </a:r>
            <a:endParaRPr lang="en-US" sz="2000" b="1" dirty="0">
              <a:solidFill>
                <a:srgbClr val="E6CEB7"/>
              </a:solidFill>
              <a:latin typeface="Open Sauce Bold"/>
              <a:ea typeface="Open Sauce Bold"/>
              <a:cs typeface="Open Sauce Bold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93E0B0-6B38-B347-BE61-D82814C002C2}"/>
              </a:ext>
            </a:extLst>
          </p:cNvPr>
          <p:cNvSpPr/>
          <p:nvPr/>
        </p:nvSpPr>
        <p:spPr>
          <a:xfrm>
            <a:off x="14173200" y="2392679"/>
            <a:ext cx="3916680" cy="408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E0EA0-783E-CED9-5D1D-F3308D302C54}"/>
              </a:ext>
            </a:extLst>
          </p:cNvPr>
          <p:cNvSpPr txBox="1"/>
          <p:nvPr/>
        </p:nvSpPr>
        <p:spPr>
          <a:xfrm>
            <a:off x="14173200" y="2575560"/>
            <a:ext cx="3916680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GNSS Signal Structure:</a:t>
            </a:r>
            <a:endParaRPr lang="tr-TR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RF Carrier + PRN Spreading Code + Navigation Data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RF Carrier: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defines the center RF frequency of the signal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Spreading Code:</a:t>
            </a:r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spreads the signal spectrum; chip rate and modulation determine the useful bandwidth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Typical Received Level:</a:t>
            </a:r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≈ −130 dBm at receiver input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4240" y="2308997"/>
            <a:ext cx="82932" cy="3836090"/>
            <a:chOff x="0" y="0"/>
            <a:chExt cx="21842" cy="1010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2" cy="1010328"/>
            </a:xfrm>
            <a:custGeom>
              <a:avLst/>
              <a:gdLst/>
              <a:ahLst/>
              <a:cxnLst/>
              <a:rect l="l" t="t" r="r" b="b"/>
              <a:pathLst>
                <a:path w="21842" h="1010328">
                  <a:moveTo>
                    <a:pt x="0" y="0"/>
                  </a:moveTo>
                  <a:lnTo>
                    <a:pt x="21842" y="0"/>
                  </a:lnTo>
                  <a:lnTo>
                    <a:pt x="21842" y="1010328"/>
                  </a:lnTo>
                  <a:lnTo>
                    <a:pt x="0" y="10103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2" cy="104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44602" y="939165"/>
            <a:ext cx="11493996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Preliminary Frequency 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32080" y="2483623"/>
            <a:ext cx="2284203" cy="4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26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1 — 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94887" y="2437970"/>
            <a:ext cx="3147661" cy="4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26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2 — L5 + L2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658" y="3293062"/>
            <a:ext cx="8901167" cy="34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1559.052 MHz ─────────●───────── 1605.886 MHz</a:t>
            </a:r>
          </a:p>
        </p:txBody>
      </p:sp>
      <p:sp>
        <p:nvSpPr>
          <p:cNvPr id="9" name="AutoShape 9"/>
          <p:cNvSpPr/>
          <p:nvPr/>
        </p:nvSpPr>
        <p:spPr>
          <a:xfrm>
            <a:off x="4514241" y="3640442"/>
            <a:ext cx="0" cy="3195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TextBox 10"/>
          <p:cNvSpPr txBox="1"/>
          <p:nvPr/>
        </p:nvSpPr>
        <p:spPr>
          <a:xfrm>
            <a:off x="2942430" y="4068688"/>
            <a:ext cx="3143621" cy="34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sz="200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LO: 1582.469 MHz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6166" y="4655639"/>
            <a:ext cx="3535049" cy="1194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BW</a:t>
            </a:r>
            <a:r>
              <a:rPr lang="en-US" sz="22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46.834 MHz</a:t>
            </a:r>
            <a:endParaRPr lang="en-US"/>
          </a:p>
          <a:p>
            <a:pPr>
              <a:lnSpc>
                <a:spcPts val="3177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Baseband</a:t>
            </a:r>
            <a:r>
              <a:rPr lang="en-US" sz="22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±23.417 MHz</a:t>
            </a:r>
            <a:endParaRPr lang="en-US" sz="22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>
              <a:lnSpc>
                <a:spcPts val="3177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Sampling</a:t>
            </a:r>
            <a:r>
              <a:rPr lang="en-US" sz="22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250" dirty="0">
                <a:solidFill>
                  <a:srgbClr val="000000"/>
                </a:solidFill>
                <a:latin typeface="Open Sauce Bold Italics"/>
                <a:ea typeface="Open Sauce"/>
                <a:cs typeface="Open Sauce"/>
                <a:sym typeface="Open Sauce"/>
              </a:rPr>
              <a:t> </a:t>
            </a:r>
            <a:r>
              <a:rPr lang="en-US" sz="2250" dirty="0">
                <a:solidFill>
                  <a:srgbClr val="000000"/>
                </a:solidFill>
                <a:latin typeface="Open Sauce Bold Italics"/>
                <a:ea typeface="Calibri"/>
                <a:cs typeface="Calibri"/>
                <a:sym typeface="Open Sauce"/>
              </a:rPr>
              <a:t>76.8 MS/s</a:t>
            </a:r>
            <a:endParaRPr lang="en-US" sz="2250" dirty="0">
              <a:solidFill>
                <a:srgbClr val="000000"/>
              </a:solidFill>
              <a:latin typeface="Open Sauce Bold Italics"/>
              <a:ea typeface="Calibri"/>
              <a:cs typeface="Calibr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95850" y="3288693"/>
            <a:ext cx="8708514" cy="35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  <a:spcBef>
                <a:spcPct val="0"/>
              </a:spcBef>
            </a:pPr>
            <a:r>
              <a:rPr lang="en-US" sz="207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1166.220 MHz ─────────●───────── 1249.136 MHz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750107" y="3646314"/>
            <a:ext cx="0" cy="32644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TextBox 14"/>
          <p:cNvSpPr txBox="1"/>
          <p:nvPr/>
        </p:nvSpPr>
        <p:spPr>
          <a:xfrm>
            <a:off x="12119776" y="4084612"/>
            <a:ext cx="3211381" cy="35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3"/>
              </a:lnSpc>
              <a:spcBef>
                <a:spcPct val="0"/>
              </a:spcBef>
            </a:pPr>
            <a:r>
              <a:rPr lang="en-US" sz="205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LO: 1207.678 MHz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29426" y="4655639"/>
            <a:ext cx="3675593" cy="1605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BW</a:t>
            </a:r>
            <a:r>
              <a:rPr lang="en-US" sz="22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82.916 MHz</a:t>
            </a:r>
          </a:p>
          <a:p>
            <a:pPr algn="l">
              <a:lnSpc>
                <a:spcPts val="3177"/>
              </a:lnSpc>
              <a:spcBef>
                <a:spcPct val="0"/>
              </a:spcBef>
            </a:pPr>
            <a:r>
              <a:rPr lang="en-US" sz="226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Baseband</a:t>
            </a:r>
            <a:r>
              <a:rPr lang="en-US" sz="22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±41.458 MHz</a:t>
            </a:r>
          </a:p>
          <a:p>
            <a:pPr algn="l">
              <a:lnSpc>
                <a:spcPts val="3177"/>
              </a:lnSpc>
              <a:spcBef>
                <a:spcPct val="0"/>
              </a:spcBef>
            </a:pPr>
            <a:r>
              <a:rPr lang="en-US" sz="226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Sampling</a:t>
            </a:r>
            <a:r>
              <a:rPr lang="en-US" sz="22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122.88 MS/s</a:t>
            </a:r>
          </a:p>
          <a:p>
            <a:pPr algn="ctr">
              <a:lnSpc>
                <a:spcPts val="3177"/>
              </a:lnSpc>
              <a:spcBef>
                <a:spcPct val="0"/>
              </a:spcBef>
            </a:pPr>
            <a:endParaRPr lang="en-US" sz="226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5898" y="6750606"/>
            <a:ext cx="8181382" cy="469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4"/>
              </a:lnSpc>
              <a:spcBef>
                <a:spcPct val="0"/>
              </a:spcBef>
            </a:pPr>
            <a:r>
              <a:rPr lang="en-US" sz="2881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OPTIONAL — Galileo E5 AltBOC Alternative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3538" y="7626488"/>
            <a:ext cx="8004543" cy="155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spcBef>
                <a:spcPct val="0"/>
              </a:spcBef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E5a                    E5 Center                    E5b</a:t>
            </a:r>
            <a:endParaRPr lang="en-US" sz="2150" dirty="0"/>
          </a:p>
          <a:p>
            <a:pPr algn="ctr">
              <a:lnSpc>
                <a:spcPts val="3078"/>
              </a:lnSpc>
              <a:spcBef>
                <a:spcPct val="0"/>
              </a:spcBef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1176.450 MHz            1191.795 MHz               1207.140 MHz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algn="ctr">
              <a:lnSpc>
                <a:spcPts val="3078"/>
              </a:lnSpc>
              <a:spcBef>
                <a:spcPct val="0"/>
              </a:spcBef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●----------------------●----------------------●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algn="ctr">
              <a:lnSpc>
                <a:spcPts val="3078"/>
              </a:lnSpc>
              <a:spcBef>
                <a:spcPct val="0"/>
              </a:spcBef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15.345 MHz          15.345 MHz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64824" y="7619085"/>
            <a:ext cx="9259518" cy="7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5730" lvl="1" indent="-247865" algn="l">
              <a:lnSpc>
                <a:spcPts val="3214"/>
              </a:lnSpc>
              <a:spcBef>
                <a:spcPct val="0"/>
              </a:spcBef>
              <a:buFont typeface="Arial"/>
              <a:buChar char="•"/>
            </a:pPr>
            <a:r>
              <a:rPr lang="en-US" sz="229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E5a and E5b are already captured within Chain 2;</a:t>
            </a:r>
          </a:p>
          <a:p>
            <a:pPr algn="l">
              <a:lnSpc>
                <a:spcPts val="3214"/>
              </a:lnSpc>
              <a:spcBef>
                <a:spcPct val="0"/>
              </a:spcBef>
            </a:pPr>
            <a:r>
              <a:rPr lang="en-US" sz="229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AltBOC treats them jointly as one wideband Galileo E5 signal.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64824" y="8760914"/>
            <a:ext cx="9023562" cy="7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5730" lvl="1" indent="-247865" algn="l">
              <a:lnSpc>
                <a:spcPts val="3214"/>
              </a:lnSpc>
              <a:spcBef>
                <a:spcPct val="0"/>
              </a:spcBef>
              <a:buFont typeface="Arial"/>
              <a:buChar char="•"/>
            </a:pPr>
            <a:r>
              <a:rPr lang="en-US" sz="2296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AltBOC-oriented alternative: </a:t>
            </a:r>
            <a:r>
              <a:rPr lang="en-US" sz="229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Chain 1: L1 | Chain 2: E5 wideband | Chain 3: Upper L2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7260" y="962025"/>
            <a:ext cx="7711767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Optional AltBOC-Oriented Frequency Plan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16680" y="1697557"/>
            <a:ext cx="82932" cy="3836090"/>
            <a:chOff x="0" y="0"/>
            <a:chExt cx="21842" cy="10103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842" cy="1010328"/>
            </a:xfrm>
            <a:custGeom>
              <a:avLst/>
              <a:gdLst/>
              <a:ahLst/>
              <a:cxnLst/>
              <a:rect l="l" t="t" r="r" b="b"/>
              <a:pathLst>
                <a:path w="21842" h="1010328">
                  <a:moveTo>
                    <a:pt x="0" y="0"/>
                  </a:moveTo>
                  <a:lnTo>
                    <a:pt x="21842" y="0"/>
                  </a:lnTo>
                  <a:lnTo>
                    <a:pt x="21842" y="1010328"/>
                  </a:lnTo>
                  <a:lnTo>
                    <a:pt x="0" y="10103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842" cy="104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37896" y="1650412"/>
            <a:ext cx="82932" cy="3836090"/>
            <a:chOff x="0" y="0"/>
            <a:chExt cx="21842" cy="10103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42" cy="1010328"/>
            </a:xfrm>
            <a:custGeom>
              <a:avLst/>
              <a:gdLst/>
              <a:ahLst/>
              <a:cxnLst/>
              <a:rect l="l" t="t" r="r" b="b"/>
              <a:pathLst>
                <a:path w="21842" h="1010328">
                  <a:moveTo>
                    <a:pt x="0" y="0"/>
                  </a:moveTo>
                  <a:lnTo>
                    <a:pt x="21842" y="0"/>
                  </a:lnTo>
                  <a:lnTo>
                    <a:pt x="21842" y="1010328"/>
                  </a:lnTo>
                  <a:lnTo>
                    <a:pt x="0" y="10103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42" cy="104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79507" y="1866071"/>
            <a:ext cx="5728011" cy="3654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142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1 — L1</a:t>
            </a:r>
          </a:p>
          <a:p>
            <a:pPr algn="ctr">
              <a:lnSpc>
                <a:spcPts val="2999"/>
              </a:lnSpc>
            </a:pPr>
            <a:endParaRPr lang="en-US" sz="2142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RF Range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1559.052 – 1605.886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BW: 46.834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LO: 1582.469 MHz</a:t>
            </a:r>
          </a:p>
          <a:p>
            <a:pPr algn="ctr">
              <a:lnSpc>
                <a:spcPts val="2415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172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1559.052 MHz ───── ● ───── 1605.886 MHz</a:t>
            </a:r>
          </a:p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1725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4387" y="1847021"/>
            <a:ext cx="5428734" cy="3562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07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2 — E5 WIDEBAND</a:t>
            </a:r>
          </a:p>
          <a:p>
            <a:pPr algn="ctr">
              <a:lnSpc>
                <a:spcPts val="2907"/>
              </a:lnSpc>
            </a:pPr>
            <a:endParaRPr lang="en-US" sz="2076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RF Range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1166.220 – 1217.370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BW: 51.150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 / E5 Center: 1191.795 MHz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67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1166.220 MHz ───── ● ───── 1217.370 MHz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67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25603" y="1793762"/>
            <a:ext cx="5762397" cy="415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  <a:spcBef>
                <a:spcPct val="0"/>
              </a:spcBef>
            </a:pPr>
            <a:r>
              <a:rPr lang="en-US" sz="217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CHAIN 3 — UPPER L2</a:t>
            </a:r>
          </a:p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sz="174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(GPS L2C + GLONASS G2)</a:t>
            </a:r>
          </a:p>
          <a:p>
            <a:pPr algn="ctr">
              <a:lnSpc>
                <a:spcPts val="2447"/>
              </a:lnSpc>
              <a:spcBef>
                <a:spcPct val="0"/>
              </a:spcBef>
            </a:pPr>
            <a:endParaRPr lang="en-US" sz="1748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RF Range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1226.577 – 1249.136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BW: 22.559 MHz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LO: 1237.857 MHz</a:t>
            </a:r>
          </a:p>
          <a:p>
            <a:pPr algn="ctr">
              <a:lnSpc>
                <a:spcPts val="2447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sz="17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1226.577 MHz ───── ● ───── 1249.136 MHz</a:t>
            </a:r>
          </a:p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sz="17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LO₃</a:t>
            </a:r>
          </a:p>
          <a:p>
            <a:pPr algn="ctr">
              <a:lnSpc>
                <a:spcPts val="2447"/>
              </a:lnSpc>
              <a:spcBef>
                <a:spcPct val="0"/>
              </a:spcBef>
            </a:pPr>
            <a:endParaRPr lang="en-US" sz="174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05087" y="7119689"/>
            <a:ext cx="1680702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 flipH="1">
            <a:off x="5475861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4873551" y="6646216"/>
            <a:ext cx="1204620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1226.577 MHz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89936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>
            <a:off x="7903119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6113870" y="6646216"/>
            <a:ext cx="1197853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1237.857 MHz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8760" y="6646216"/>
            <a:ext cx="1365493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1249.136 MHz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639" y="7333782"/>
            <a:ext cx="624314" cy="32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LO₃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56324" y="7692051"/>
            <a:ext cx="867223" cy="27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61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(Chain 3)</a:t>
            </a:r>
          </a:p>
        </p:txBody>
      </p:sp>
      <p:sp>
        <p:nvSpPr>
          <p:cNvPr id="21" name="AutoShape 21"/>
          <p:cNvSpPr/>
          <p:nvPr/>
        </p:nvSpPr>
        <p:spPr>
          <a:xfrm flipH="1">
            <a:off x="1446707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2523060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H="1">
            <a:off x="3599414" y="6941202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2193164" y="7333782"/>
            <a:ext cx="690273" cy="32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6495" y="7664777"/>
            <a:ext cx="2648371" cy="2459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86"/>
              </a:lnSpc>
              <a:spcBef>
                <a:spcPct val="0"/>
              </a:spcBef>
            </a:pPr>
            <a:r>
              <a:rPr lang="en-US" sz="149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(Chain 2 - E5 </a:t>
            </a:r>
            <a:r>
              <a:rPr lang="en-US" sz="149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AltBOC</a:t>
            </a:r>
            <a:r>
              <a:rPr lang="en-US" sz="149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655" y="6648367"/>
            <a:ext cx="1639967" cy="200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34"/>
              </a:lnSpc>
              <a:spcBef>
                <a:spcPct val="0"/>
              </a:spcBef>
            </a:pPr>
            <a:r>
              <a:rPr lang="en-US" sz="12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1166.220 MHz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70774" y="6642652"/>
            <a:ext cx="1533133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1191.795 MHz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78139" y="6642652"/>
            <a:ext cx="1548373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1217.370 MHz</a:t>
            </a:r>
          </a:p>
        </p:txBody>
      </p:sp>
      <p:sp>
        <p:nvSpPr>
          <p:cNvPr id="29" name="AutoShape 29"/>
          <p:cNvSpPr/>
          <p:nvPr/>
        </p:nvSpPr>
        <p:spPr>
          <a:xfrm flipH="1">
            <a:off x="12904573" y="6937638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11977600" y="6642652"/>
            <a:ext cx="1853946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1559.052 MHz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4118649" y="6937638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H="1">
            <a:off x="15331832" y="6937638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3035369" y="6642652"/>
            <a:ext cx="2177506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1582.469 MHz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012153" y="6657892"/>
            <a:ext cx="2658768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1605.886 MHz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34472" y="7333782"/>
            <a:ext cx="690273" cy="32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53971" y="7692051"/>
            <a:ext cx="1034156" cy="27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61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(Chain 1)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52676" y="8193569"/>
            <a:ext cx="1940770" cy="44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24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Image Band about LO (Chain 2)</a:t>
            </a:r>
          </a:p>
        </p:txBody>
      </p:sp>
      <p:sp>
        <p:nvSpPr>
          <p:cNvPr id="38" name="AutoShape 38"/>
          <p:cNvSpPr/>
          <p:nvPr/>
        </p:nvSpPr>
        <p:spPr>
          <a:xfrm flipH="1">
            <a:off x="1446707" y="7336877"/>
            <a:ext cx="537" cy="1072363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 flipH="1">
            <a:off x="3599414" y="7336898"/>
            <a:ext cx="537" cy="107234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0" name="TextBox 40"/>
          <p:cNvSpPr txBox="1"/>
          <p:nvPr/>
        </p:nvSpPr>
        <p:spPr>
          <a:xfrm>
            <a:off x="5719551" y="8250420"/>
            <a:ext cx="1940770" cy="44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24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Image Band about LO (Chain 3)</a:t>
            </a:r>
          </a:p>
        </p:txBody>
      </p:sp>
      <p:sp>
        <p:nvSpPr>
          <p:cNvPr id="41" name="AutoShape 41"/>
          <p:cNvSpPr/>
          <p:nvPr/>
        </p:nvSpPr>
        <p:spPr>
          <a:xfrm>
            <a:off x="5472969" y="7336867"/>
            <a:ext cx="2892" cy="1132131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 flipH="1">
            <a:off x="7903119" y="7339796"/>
            <a:ext cx="269" cy="112920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3150021" y="8227942"/>
            <a:ext cx="1940770" cy="44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24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Image Band about LO (Chain 1)</a:t>
            </a:r>
          </a:p>
        </p:txBody>
      </p:sp>
      <p:sp>
        <p:nvSpPr>
          <p:cNvPr id="44" name="AutoShape 44"/>
          <p:cNvSpPr/>
          <p:nvPr/>
        </p:nvSpPr>
        <p:spPr>
          <a:xfrm>
            <a:off x="12903439" y="7314389"/>
            <a:ext cx="2892" cy="1132131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H="1">
            <a:off x="15333589" y="7317318"/>
            <a:ext cx="269" cy="112920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>
            <a:off x="705087" y="9465240"/>
            <a:ext cx="1680702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47" name="AutoShape 47"/>
          <p:cNvSpPr/>
          <p:nvPr/>
        </p:nvSpPr>
        <p:spPr>
          <a:xfrm flipH="1">
            <a:off x="1378192" y="9286753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TextBox 48"/>
          <p:cNvSpPr txBox="1"/>
          <p:nvPr/>
        </p:nvSpPr>
        <p:spPr>
          <a:xfrm>
            <a:off x="794025" y="9007930"/>
            <a:ext cx="1162067" cy="1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1191.795 MHz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0351" y="9635555"/>
            <a:ext cx="475135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LO₂</a:t>
            </a:r>
          </a:p>
        </p:txBody>
      </p:sp>
      <p:sp>
        <p:nvSpPr>
          <p:cNvPr id="50" name="AutoShape 50"/>
          <p:cNvSpPr/>
          <p:nvPr/>
        </p:nvSpPr>
        <p:spPr>
          <a:xfrm flipH="1">
            <a:off x="6984176" y="9292981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TextBox 51"/>
          <p:cNvSpPr txBox="1"/>
          <p:nvPr/>
        </p:nvSpPr>
        <p:spPr>
          <a:xfrm>
            <a:off x="6423579" y="8998918"/>
            <a:ext cx="1145407" cy="1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2383.590 MHz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66335" y="9641783"/>
            <a:ext cx="603252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2LO₂</a:t>
            </a:r>
          </a:p>
        </p:txBody>
      </p:sp>
      <p:sp>
        <p:nvSpPr>
          <p:cNvPr id="53" name="AutoShape 53"/>
          <p:cNvSpPr/>
          <p:nvPr/>
        </p:nvSpPr>
        <p:spPr>
          <a:xfrm>
            <a:off x="13344045" y="9292981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TextBox 54"/>
          <p:cNvSpPr txBox="1"/>
          <p:nvPr/>
        </p:nvSpPr>
        <p:spPr>
          <a:xfrm>
            <a:off x="12759056" y="8983678"/>
            <a:ext cx="1224672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3575.385 MHz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126205" y="9641783"/>
            <a:ext cx="625166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3LO₂</a:t>
            </a:r>
          </a:p>
        </p:txBody>
      </p:sp>
      <p:sp>
        <p:nvSpPr>
          <p:cNvPr id="56" name="AutoShape 56"/>
          <p:cNvSpPr/>
          <p:nvPr/>
        </p:nvSpPr>
        <p:spPr>
          <a:xfrm flipH="1">
            <a:off x="2570954" y="9286753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TextBox 57"/>
          <p:cNvSpPr txBox="1"/>
          <p:nvPr/>
        </p:nvSpPr>
        <p:spPr>
          <a:xfrm>
            <a:off x="1930185" y="9007930"/>
            <a:ext cx="1305751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1237.857 MHz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353113" y="9635555"/>
            <a:ext cx="475135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LO₃</a:t>
            </a:r>
          </a:p>
        </p:txBody>
      </p:sp>
      <p:sp>
        <p:nvSpPr>
          <p:cNvPr id="59" name="AutoShape 59"/>
          <p:cNvSpPr/>
          <p:nvPr/>
        </p:nvSpPr>
        <p:spPr>
          <a:xfrm flipH="1">
            <a:off x="8145621" y="9292981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" name="TextBox 60"/>
          <p:cNvSpPr txBox="1"/>
          <p:nvPr/>
        </p:nvSpPr>
        <p:spPr>
          <a:xfrm>
            <a:off x="7585367" y="8998918"/>
            <a:ext cx="1159961" cy="1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2475.714 MHz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27780" y="9641783"/>
            <a:ext cx="580163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2LO₃</a:t>
            </a:r>
          </a:p>
        </p:txBody>
      </p:sp>
      <p:sp>
        <p:nvSpPr>
          <p:cNvPr id="62" name="AutoShape 62"/>
          <p:cNvSpPr/>
          <p:nvPr/>
        </p:nvSpPr>
        <p:spPr>
          <a:xfrm>
            <a:off x="14638601" y="9292981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TextBox 63"/>
          <p:cNvSpPr txBox="1"/>
          <p:nvPr/>
        </p:nvSpPr>
        <p:spPr>
          <a:xfrm>
            <a:off x="14091369" y="8983678"/>
            <a:ext cx="1133916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3713.571 MHz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420760" y="9641783"/>
            <a:ext cx="641810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3LO₃</a:t>
            </a:r>
          </a:p>
        </p:txBody>
      </p:sp>
      <p:sp>
        <p:nvSpPr>
          <p:cNvPr id="65" name="AutoShape 65"/>
          <p:cNvSpPr/>
          <p:nvPr/>
        </p:nvSpPr>
        <p:spPr>
          <a:xfrm flipH="1">
            <a:off x="4201654" y="9286753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" name="TextBox 66"/>
          <p:cNvSpPr txBox="1"/>
          <p:nvPr/>
        </p:nvSpPr>
        <p:spPr>
          <a:xfrm>
            <a:off x="3566108" y="9007930"/>
            <a:ext cx="1295306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1582.469 MHz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983814" y="9635555"/>
            <a:ext cx="475135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LO₁</a:t>
            </a:r>
          </a:p>
        </p:txBody>
      </p:sp>
      <p:sp>
        <p:nvSpPr>
          <p:cNvPr id="68" name="AutoShape 68"/>
          <p:cNvSpPr/>
          <p:nvPr/>
        </p:nvSpPr>
        <p:spPr>
          <a:xfrm flipH="1">
            <a:off x="10306849" y="9292981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9" name="TextBox 69"/>
          <p:cNvSpPr txBox="1"/>
          <p:nvPr/>
        </p:nvSpPr>
        <p:spPr>
          <a:xfrm>
            <a:off x="9733187" y="8998918"/>
            <a:ext cx="1156297" cy="1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3164.938 MHz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089008" y="9641783"/>
            <a:ext cx="675321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2LO₁</a:t>
            </a:r>
          </a:p>
        </p:txBody>
      </p:sp>
      <p:sp>
        <p:nvSpPr>
          <p:cNvPr id="71" name="AutoShape 71"/>
          <p:cNvSpPr/>
          <p:nvPr/>
        </p:nvSpPr>
        <p:spPr>
          <a:xfrm flipH="1">
            <a:off x="16709196" y="9286753"/>
            <a:ext cx="0" cy="3569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TextBox 72"/>
          <p:cNvSpPr txBox="1"/>
          <p:nvPr/>
        </p:nvSpPr>
        <p:spPr>
          <a:xfrm>
            <a:off x="16137229" y="8977450"/>
            <a:ext cx="1198626" cy="18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  <a:spcBef>
                <a:spcPct val="0"/>
              </a:spcBef>
            </a:pPr>
            <a:r>
              <a:rPr lang="en-US" sz="113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4747.407 MHz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6352964" y="9635555"/>
            <a:ext cx="816592" cy="3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3LO₁</a:t>
            </a:r>
          </a:p>
        </p:txBody>
      </p:sp>
      <p:sp>
        <p:nvSpPr>
          <p:cNvPr id="74" name="AutoShape 74"/>
          <p:cNvSpPr/>
          <p:nvPr/>
        </p:nvSpPr>
        <p:spPr>
          <a:xfrm>
            <a:off x="17687343" y="9484290"/>
            <a:ext cx="600657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75" name="TextBox 75"/>
          <p:cNvSpPr txBox="1"/>
          <p:nvPr/>
        </p:nvSpPr>
        <p:spPr>
          <a:xfrm>
            <a:off x="7003903" y="5906410"/>
            <a:ext cx="4886950" cy="39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5"/>
              </a:lnSpc>
              <a:spcBef>
                <a:spcPct val="0"/>
              </a:spcBef>
            </a:pPr>
            <a:r>
              <a:rPr lang="en-US" sz="242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Image &amp; LO Harmonic 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81182" y="2161807"/>
          <a:ext cx="11637742" cy="7962900"/>
        </p:xfrm>
        <a:graphic>
          <a:graphicData uri="http://schemas.openxmlformats.org/drawingml/2006/table">
            <a:tbl>
              <a:tblPr/>
              <a:tblGrid>
                <a:gridCol w="2087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8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380"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32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Criterion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D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Zero-IF RFIC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D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Direct RF Sampling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053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Complex I/Q output; suitable for phase-coherent CRPA processing. Requires I/Q calibration.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Avoids analog I/Q conversion; high dynamic range possible, but ADC jitter and blocker handling are critical.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053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Component 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integration: mixers, LO/PLL, VGA and ADC may be integrated.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Simpler analog path, but requires high-speed ADC and heavier digital processing.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787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Lower sampling-rate and digital-processing demand.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Higher ADC and FPGA power due to direct RF sampling.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787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Mass /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Compact RFIC-based implementation.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ADC, clocking and digital hardware can increase PCB area and thermal load.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2787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Typically lower for a replicated multi-channel system.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High-speed ADC and FPGA resources increase cost.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59053"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Design Ease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Easier data-rate management; DC offset, LO leakage and I/Q mismatch must be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Analog chain is simpler, but clocking, ADC interface and FPGA DDC are more demanding.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2711924" y="2614351"/>
            <a:ext cx="4827849" cy="7391400"/>
            <a:chOff x="0" y="0"/>
            <a:chExt cx="1271532" cy="1946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1532" cy="1946706"/>
            </a:xfrm>
            <a:custGeom>
              <a:avLst/>
              <a:gdLst/>
              <a:ahLst/>
              <a:cxnLst/>
              <a:rect l="l" t="t" r="r" b="b"/>
              <a:pathLst>
                <a:path w="1271532" h="1946706">
                  <a:moveTo>
                    <a:pt x="0" y="0"/>
                  </a:moveTo>
                  <a:lnTo>
                    <a:pt x="1271532" y="0"/>
                  </a:lnTo>
                  <a:lnTo>
                    <a:pt x="1271532" y="1946706"/>
                  </a:lnTo>
                  <a:lnTo>
                    <a:pt x="0" y="1946706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1532" cy="1984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05"/>
                </a:lnSpc>
              </a:pPr>
              <a:endParaRPr/>
            </a:p>
            <a:p>
              <a:pPr algn="l">
                <a:lnSpc>
                  <a:spcPts val="270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1841" y="689775"/>
            <a:ext cx="11924318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Receiver Architecture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1182" y="1698300"/>
            <a:ext cx="4553379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Zero-IF RFIC vs. Direct RF Sampling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44097" y="2904057"/>
            <a:ext cx="4495676" cy="307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1932" b="1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ARCHITECTURE</a:t>
            </a:r>
            <a:r>
              <a:rPr lang="en-US" sz="193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  <a:p>
            <a:pPr algn="l">
              <a:lnSpc>
                <a:spcPts val="2705"/>
              </a:lnSpc>
            </a:pPr>
            <a:endParaRPr lang="en-US" sz="1932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705"/>
              </a:lnSpc>
            </a:pPr>
            <a:r>
              <a:rPr lang="en-US" sz="193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ZERO-IF RFIC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endParaRPr lang="en-US" sz="1932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Lower ADC sampling rate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Lower data throughput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Lower power / SWaP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Native complex I/Q output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endParaRPr lang="en-US" sz="1932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44097" y="5941075"/>
            <a:ext cx="4495676" cy="2732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Trade-offs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endParaRPr lang="en-US" sz="1932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I/Q mismatch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DC offset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 leakage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More analog/RF functional complexity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endParaRPr lang="en-US" sz="1932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625" y="3581208"/>
            <a:ext cx="1768018" cy="1768018"/>
            <a:chOff x="0" y="0"/>
            <a:chExt cx="542257" cy="5422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87020" y="923925"/>
            <a:ext cx="12554039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Zero-IF CRPA Receiver Block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625" y="4153734"/>
            <a:ext cx="1768018" cy="58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8-Element CRPA Antenna Array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7499" y="2653650"/>
            <a:ext cx="2363438" cy="928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Passive Tri-Band L1/L2/L5 Patch Elements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870769" y="3605446"/>
            <a:ext cx="1768018" cy="1768018"/>
            <a:chOff x="0" y="0"/>
            <a:chExt cx="542257" cy="5422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70769" y="4325200"/>
            <a:ext cx="1768018" cy="29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RF Front-End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30017" y="3107889"/>
            <a:ext cx="3494608" cy="292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Preselector Filter + LNA</a:t>
            </a:r>
            <a:endParaRPr lang="en-US" sz="16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826912" y="3629683"/>
            <a:ext cx="1768018" cy="1768018"/>
            <a:chOff x="0" y="0"/>
            <a:chExt cx="542257" cy="5422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26912" y="4153734"/>
            <a:ext cx="1768018" cy="58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Zero-IF Receiver (RFIC / ADC)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64604" y="2944665"/>
            <a:ext cx="3102305" cy="61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I/Q </a:t>
            </a:r>
            <a:r>
              <a:rPr lang="en-US" sz="175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Downconversion</a:t>
            </a:r>
            <a:r>
              <a:rPr lang="en-US" sz="17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+ Baseband Filtering + ADC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783056" y="3653921"/>
            <a:ext cx="1768018" cy="1768018"/>
            <a:chOff x="0" y="0"/>
            <a:chExt cx="542257" cy="5422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 lang="en-US">
                <a:ea typeface="Calibri"/>
                <a:cs typeface="Calibri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83056" y="4391331"/>
            <a:ext cx="1768018" cy="58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FPGA Processing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25985" y="2648969"/>
            <a:ext cx="3090899" cy="933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Channel Alignment + Calibration + Complex Weighting + Summation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739199" y="3678158"/>
            <a:ext cx="1768018" cy="1768018"/>
            <a:chOff x="0" y="0"/>
            <a:chExt cx="542257" cy="5422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39199" y="4397912"/>
            <a:ext cx="1768018" cy="29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RF Output Chain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18450" y="2960887"/>
            <a:ext cx="2497321" cy="61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DAC + Upconversion + RF Output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689876" y="3605446"/>
            <a:ext cx="1768018" cy="1768018"/>
            <a:chOff x="0" y="0"/>
            <a:chExt cx="542257" cy="54225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695343" y="4274921"/>
            <a:ext cx="1768018" cy="58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Existing GNSS Receiver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05968" y="2809469"/>
            <a:ext cx="3082174" cy="613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7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onboard receiver — no modification required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783056" y="6728600"/>
            <a:ext cx="1768018" cy="1768018"/>
            <a:chOff x="0" y="0"/>
            <a:chExt cx="542257" cy="5422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2257" cy="542257"/>
            </a:xfrm>
            <a:custGeom>
              <a:avLst/>
              <a:gdLst/>
              <a:ahLst/>
              <a:cxnLst/>
              <a:rect l="l" t="t" r="r" b="b"/>
              <a:pathLst>
                <a:path w="542257" h="542257">
                  <a:moveTo>
                    <a:pt x="223322" y="0"/>
                  </a:moveTo>
                  <a:lnTo>
                    <a:pt x="318935" y="0"/>
                  </a:lnTo>
                  <a:cubicBezTo>
                    <a:pt x="442272" y="0"/>
                    <a:pt x="542257" y="99985"/>
                    <a:pt x="542257" y="223322"/>
                  </a:cubicBezTo>
                  <a:lnTo>
                    <a:pt x="542257" y="318935"/>
                  </a:lnTo>
                  <a:cubicBezTo>
                    <a:pt x="542257" y="442272"/>
                    <a:pt x="442272" y="542257"/>
                    <a:pt x="318935" y="542257"/>
                  </a:cubicBezTo>
                  <a:lnTo>
                    <a:pt x="223322" y="542257"/>
                  </a:lnTo>
                  <a:cubicBezTo>
                    <a:pt x="99985" y="542257"/>
                    <a:pt x="0" y="442272"/>
                    <a:pt x="0" y="318935"/>
                  </a:cubicBezTo>
                  <a:lnTo>
                    <a:pt x="0" y="223322"/>
                  </a:lnTo>
                  <a:cubicBezTo>
                    <a:pt x="0" y="99985"/>
                    <a:pt x="99985" y="0"/>
                    <a:pt x="223322" y="0"/>
                  </a:cubicBez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42257" cy="580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798296" y="7328850"/>
            <a:ext cx="1768018" cy="58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spcBef>
                <a:spcPct val="0"/>
              </a:spcBef>
            </a:pPr>
            <a:r>
              <a:rPr lang="en-US" sz="1659">
                <a:solidFill>
                  <a:srgbClr val="FFE7C2"/>
                </a:solidFill>
                <a:latin typeface="Open Sauce"/>
                <a:ea typeface="Open Sauce"/>
                <a:cs typeface="Open Sauce"/>
                <a:sym typeface="Open Sauce"/>
              </a:rPr>
              <a:t>Reference Clock &amp; Distribution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4073" y="8601393"/>
            <a:ext cx="2405983" cy="59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Common Frequency Reference</a:t>
            </a:r>
          </a:p>
        </p:txBody>
      </p:sp>
      <p:sp>
        <p:nvSpPr>
          <p:cNvPr id="38" name="AutoShape 38"/>
          <p:cNvSpPr/>
          <p:nvPr/>
        </p:nvSpPr>
        <p:spPr>
          <a:xfrm flipV="1">
            <a:off x="2823526" y="4556980"/>
            <a:ext cx="906361" cy="1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9" name="AutoShape 39"/>
          <p:cNvSpPr/>
          <p:nvPr/>
        </p:nvSpPr>
        <p:spPr>
          <a:xfrm flipV="1">
            <a:off x="5781698" y="4561305"/>
            <a:ext cx="906361" cy="1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0" name="AutoShape 40"/>
          <p:cNvSpPr/>
          <p:nvPr/>
        </p:nvSpPr>
        <p:spPr>
          <a:xfrm flipV="1">
            <a:off x="8737842" y="4560004"/>
            <a:ext cx="906361" cy="1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/>
          <p:cNvSpPr/>
          <p:nvPr/>
        </p:nvSpPr>
        <p:spPr>
          <a:xfrm flipV="1">
            <a:off x="11696014" y="4564330"/>
            <a:ext cx="906361" cy="1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 flipV="1">
            <a:off x="14650128" y="4583380"/>
            <a:ext cx="906361" cy="1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AutoShape 43"/>
          <p:cNvSpPr/>
          <p:nvPr/>
        </p:nvSpPr>
        <p:spPr>
          <a:xfrm flipV="1">
            <a:off x="10667065" y="5552703"/>
            <a:ext cx="0" cy="104254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4" name="AutoShape 44"/>
          <p:cNvSpPr/>
          <p:nvPr/>
        </p:nvSpPr>
        <p:spPr>
          <a:xfrm flipH="1" flipV="1">
            <a:off x="7619594" y="7653310"/>
            <a:ext cx="1916101" cy="795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V="1">
            <a:off x="13623208" y="5552703"/>
            <a:ext cx="0" cy="210060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6" name="AutoShape 46"/>
          <p:cNvSpPr/>
          <p:nvPr/>
        </p:nvSpPr>
        <p:spPr>
          <a:xfrm flipV="1">
            <a:off x="7619594" y="5552703"/>
            <a:ext cx="0" cy="210060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47" name="AutoShape 47"/>
          <p:cNvSpPr/>
          <p:nvPr/>
        </p:nvSpPr>
        <p:spPr>
          <a:xfrm flipH="1" flipV="1">
            <a:off x="11707028" y="7631658"/>
            <a:ext cx="1916101" cy="795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02534" y="2812876"/>
            <a:ext cx="82932" cy="7096426"/>
            <a:chOff x="0" y="0"/>
            <a:chExt cx="21842" cy="1869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2" cy="1869018"/>
            </a:xfrm>
            <a:custGeom>
              <a:avLst/>
              <a:gdLst/>
              <a:ahLst/>
              <a:cxnLst/>
              <a:rect l="l" t="t" r="r" b="b"/>
              <a:pathLst>
                <a:path w="21842" h="1869018">
                  <a:moveTo>
                    <a:pt x="0" y="0"/>
                  </a:moveTo>
                  <a:lnTo>
                    <a:pt x="21842" y="0"/>
                  </a:lnTo>
                  <a:lnTo>
                    <a:pt x="21842" y="1869018"/>
                  </a:lnTo>
                  <a:lnTo>
                    <a:pt x="0" y="18690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2" cy="1907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0977" y="7893214"/>
            <a:ext cx="4337961" cy="1695392"/>
            <a:chOff x="0" y="0"/>
            <a:chExt cx="1054179" cy="4120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4178" cy="412001"/>
            </a:xfrm>
            <a:custGeom>
              <a:avLst/>
              <a:gdLst/>
              <a:ahLst/>
              <a:cxnLst/>
              <a:rect l="l" t="t" r="r" b="b"/>
              <a:pathLst>
                <a:path w="1054178" h="412001">
                  <a:moveTo>
                    <a:pt x="0" y="0"/>
                  </a:moveTo>
                  <a:lnTo>
                    <a:pt x="1054178" y="0"/>
                  </a:lnTo>
                  <a:lnTo>
                    <a:pt x="1054178" y="412001"/>
                  </a:lnTo>
                  <a:lnTo>
                    <a:pt x="0" y="41200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54179" cy="450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85364" y="878205"/>
            <a:ext cx="15393472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Antenna-Side vs. DACU Component Placement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1309" y="2107052"/>
            <a:ext cx="3476868" cy="460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ANTENNA-Side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17945" y="2113658"/>
            <a:ext cx="2080706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DACU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4924" y="4405621"/>
            <a:ext cx="2382297" cy="364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10"/>
              </a:lnSpc>
              <a:spcBef>
                <a:spcPct val="0"/>
              </a:spcBef>
            </a:pPr>
            <a:r>
              <a:rPr lang="en-US" sz="21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15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LNA Stage</a:t>
            </a:r>
            <a:r>
              <a:rPr lang="en-US" sz="21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tr-TR"/>
          </a:p>
        </p:txBody>
      </p:sp>
      <p:sp>
        <p:nvSpPr>
          <p:cNvPr id="12" name="TextBox 12"/>
          <p:cNvSpPr txBox="1"/>
          <p:nvPr/>
        </p:nvSpPr>
        <p:spPr>
          <a:xfrm>
            <a:off x="2006872" y="4981955"/>
            <a:ext cx="6081529" cy="10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Placed close to each antenna element to minimize pre-LNA cable loss and preserve system noise figure.</a:t>
            </a:r>
            <a:endParaRPr lang="en-US" sz="1900" dirty="0"/>
          </a:p>
        </p:txBody>
      </p:sp>
      <p:sp>
        <p:nvSpPr>
          <p:cNvPr id="13" name="TextBox 13"/>
          <p:cNvSpPr txBox="1"/>
          <p:nvPr/>
        </p:nvSpPr>
        <p:spPr>
          <a:xfrm>
            <a:off x="9827195" y="2847079"/>
            <a:ext cx="3630254" cy="359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8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098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Preselector Filter</a:t>
            </a:r>
            <a:r>
              <a:rPr lang="en-US" sz="209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tr-TR" dirty="0"/>
          </a:p>
        </p:txBody>
      </p:sp>
      <p:sp>
        <p:nvSpPr>
          <p:cNvPr id="14" name="TextBox 14"/>
          <p:cNvSpPr txBox="1"/>
          <p:nvPr/>
        </p:nvSpPr>
        <p:spPr>
          <a:xfrm>
            <a:off x="10026582" y="3315659"/>
            <a:ext cx="5697916" cy="6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Placed close to the receiver to suppress out-of-band blockers before the RFIC.</a:t>
            </a:r>
            <a:endParaRPr lang="en-US" sz="1850" dirty="0"/>
          </a:p>
        </p:txBody>
      </p:sp>
      <p:sp>
        <p:nvSpPr>
          <p:cNvPr id="15" name="TextBox 15"/>
          <p:cNvSpPr txBox="1"/>
          <p:nvPr/>
        </p:nvSpPr>
        <p:spPr>
          <a:xfrm>
            <a:off x="9827195" y="4239917"/>
            <a:ext cx="3852327" cy="340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8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0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Zero-IF RFIC / ADC</a:t>
            </a:r>
            <a:r>
              <a:rPr lang="en-US" sz="20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26582" y="4711390"/>
            <a:ext cx="5697916" cy="6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Performs I/Q </a:t>
            </a:r>
            <a:r>
              <a:rPr lang="en-US" sz="1850" i="1" dirty="0" err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downconversion</a:t>
            </a: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baseband filtering and digitization for each receive channel.</a:t>
            </a:r>
            <a:endParaRPr lang="en-US" sz="1850" dirty="0"/>
          </a:p>
        </p:txBody>
      </p:sp>
      <p:sp>
        <p:nvSpPr>
          <p:cNvPr id="17" name="TextBox 17"/>
          <p:cNvSpPr txBox="1"/>
          <p:nvPr/>
        </p:nvSpPr>
        <p:spPr>
          <a:xfrm>
            <a:off x="9827195" y="5639691"/>
            <a:ext cx="3648630" cy="359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8"/>
              </a:lnSpc>
              <a:spcBef>
                <a:spcPct val="0"/>
              </a:spcBef>
            </a:pPr>
            <a:r>
              <a:rPr lang="en-US" sz="20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05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FPGA Processing</a:t>
            </a:r>
            <a:r>
              <a:rPr lang="en-US" sz="20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tr-TR"/>
          </a:p>
        </p:txBody>
      </p:sp>
      <p:sp>
        <p:nvSpPr>
          <p:cNvPr id="18" name="TextBox 18"/>
          <p:cNvSpPr txBox="1"/>
          <p:nvPr/>
        </p:nvSpPr>
        <p:spPr>
          <a:xfrm>
            <a:off x="10026582" y="6111163"/>
            <a:ext cx="5866576" cy="6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Performs channel alignment, calibration, complex weighting and summation for CRPA processing.</a:t>
            </a:r>
            <a:endParaRPr lang="en-US" sz="1850" dirty="0"/>
          </a:p>
        </p:txBody>
      </p:sp>
      <p:sp>
        <p:nvSpPr>
          <p:cNvPr id="19" name="TextBox 19"/>
          <p:cNvSpPr txBox="1"/>
          <p:nvPr/>
        </p:nvSpPr>
        <p:spPr>
          <a:xfrm>
            <a:off x="9827195" y="7035422"/>
            <a:ext cx="6033318" cy="346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8"/>
              </a:lnSpc>
              <a:spcBef>
                <a:spcPct val="0"/>
              </a:spcBef>
            </a:pPr>
            <a:r>
              <a:rPr lang="en-US" sz="20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05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 Clock &amp; Distribution</a:t>
            </a:r>
            <a:r>
              <a:rPr lang="en-US" sz="20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tr-TR" sz="2050" dirty="0"/>
          </a:p>
        </p:txBody>
      </p:sp>
      <p:sp>
        <p:nvSpPr>
          <p:cNvPr id="20" name="TextBox 20"/>
          <p:cNvSpPr txBox="1"/>
          <p:nvPr/>
        </p:nvSpPr>
        <p:spPr>
          <a:xfrm>
            <a:off x="10026582" y="7509704"/>
            <a:ext cx="6486494" cy="6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Provides a common frequency/time reference to maintain phase coherence across all receive channels.</a:t>
            </a:r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9827195" y="8366674"/>
            <a:ext cx="3408214" cy="340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8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0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 Output Chain</a:t>
            </a:r>
            <a:r>
              <a:rPr lang="en-US" sz="20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39312" y="8845593"/>
            <a:ext cx="5853847" cy="65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en-US" sz="185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Converts the processed digital/baseband signal back to RF and feeds the existing GNSS receiver.</a:t>
            </a:r>
            <a:endParaRPr lang="en-US" sz="1850" dirty="0"/>
          </a:p>
        </p:txBody>
      </p:sp>
      <p:sp>
        <p:nvSpPr>
          <p:cNvPr id="23" name="TextBox 23"/>
          <p:cNvSpPr txBox="1"/>
          <p:nvPr/>
        </p:nvSpPr>
        <p:spPr>
          <a:xfrm>
            <a:off x="1774924" y="2915529"/>
            <a:ext cx="6254401" cy="364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10"/>
              </a:lnSpc>
              <a:spcBef>
                <a:spcPct val="0"/>
              </a:spcBef>
            </a:pPr>
            <a:r>
              <a:rPr lang="en-US" sz="21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15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Passive Tri-Band Patch Antenna</a:t>
            </a:r>
            <a:r>
              <a:rPr lang="en-US" sz="21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tr-TR" dirty="0"/>
          </a:p>
        </p:txBody>
      </p:sp>
      <p:sp>
        <p:nvSpPr>
          <p:cNvPr id="24" name="TextBox 24"/>
          <p:cNvSpPr txBox="1"/>
          <p:nvPr/>
        </p:nvSpPr>
        <p:spPr>
          <a:xfrm>
            <a:off x="2006872" y="3492678"/>
            <a:ext cx="6081529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i="1" dirty="0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Receives L1/L2/L5 GNSS signals from each array element.</a:t>
            </a:r>
            <a:endParaRPr lang="en-US" sz="1900" dirty="0"/>
          </a:p>
        </p:txBody>
      </p:sp>
      <p:sp>
        <p:nvSpPr>
          <p:cNvPr id="25" name="TextBox 25"/>
          <p:cNvSpPr txBox="1"/>
          <p:nvPr/>
        </p:nvSpPr>
        <p:spPr>
          <a:xfrm>
            <a:off x="979663" y="8184119"/>
            <a:ext cx="4160590" cy="110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1"/>
              </a:lnSpc>
              <a:spcBef>
                <a:spcPct val="0"/>
              </a:spcBef>
            </a:pPr>
            <a:r>
              <a:rPr lang="en-US" sz="2094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Design Constraint: Antenna-to-DACU RF interconnect &lt; 60 cm per element.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06024" y="6505283"/>
            <a:ext cx="518976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10393"/>
              </p:ext>
            </p:extLst>
          </p:nvPr>
        </p:nvGraphicFramePr>
        <p:xfrm>
          <a:off x="9146370" y="1515156"/>
          <a:ext cx="8373449" cy="5219701"/>
        </p:xfrm>
        <a:graphic>
          <a:graphicData uri="http://schemas.openxmlformats.org/drawingml/2006/table">
            <a:tbl>
              <a:tblPr/>
              <a:tblGrid>
                <a:gridCol w="1303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7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6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89785"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Elements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RF Chains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RFIC / ADC Qty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Est. Power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Raw I/Q Data Rate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Est. DACU Mass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Budget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694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~22 W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</a:rPr>
                        <a:t>25.56 Gb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/s</a:t>
                      </a:r>
                      <a:endParaRPr lang="en-US" sz="15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~0.8 kg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PASS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074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</a:rPr>
                        <a:t>31.35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W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</a:rPr>
                        <a:t>51.12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Gb/s</a:t>
                      </a:r>
                      <a:endParaRPr lang="en-US" sz="15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~1.1 kg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PASS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074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12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24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~47.7 W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</a:rPr>
                        <a:t>76.68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Gb/s</a:t>
                      </a:r>
                      <a:endParaRPr lang="en-US" sz="15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~1.4 kg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PASS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7074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32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~64.9 W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</a:rPr>
                        <a:t>102.24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Gb/s</a:t>
                      </a:r>
                      <a:endParaRPr lang="en-US" sz="15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~1.7 kg</a:t>
                      </a:r>
                      <a:endParaRPr lang="en-US" sz="16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FAIL — Power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362206" y="497205"/>
            <a:ext cx="11578828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Array Geometry &amp; System Scaling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7353" y="1987494"/>
            <a:ext cx="6190109" cy="76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spcBef>
                <a:spcPct val="0"/>
              </a:spcBef>
            </a:pPr>
            <a:r>
              <a:rPr lang="en-US" sz="2222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Geometry: 8-Element Uniform Circular Array (UCA)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5570" y="3598896"/>
            <a:ext cx="3093862" cy="388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fmax = 1605.9 MHz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1848" y="4130476"/>
            <a:ext cx="2707381" cy="395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λmin</a:t>
            </a: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= c / fmax</a:t>
            </a:r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07525" y="4763977"/>
            <a:ext cx="7220616" cy="394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λmin</a:t>
            </a: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= 3×10⁸ / 1.6059×10⁹ ≈ 0.1868 m = 18.68 cm</a:t>
            </a:r>
            <a:endParaRPr lang="en-US" sz="2300" dirty="0"/>
          </a:p>
        </p:txBody>
      </p:sp>
      <p:sp>
        <p:nvSpPr>
          <p:cNvPr id="9" name="TextBox 9"/>
          <p:cNvSpPr txBox="1"/>
          <p:nvPr/>
        </p:nvSpPr>
        <p:spPr>
          <a:xfrm>
            <a:off x="1028700" y="2938468"/>
            <a:ext cx="6058762" cy="38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849" lvl="1" indent="-248425" algn="l">
              <a:lnSpc>
                <a:spcPts val="3221"/>
              </a:lnSpc>
              <a:spcBef>
                <a:spcPct val="0"/>
              </a:spcBef>
              <a:buFont typeface="Arial"/>
              <a:buChar char="•"/>
            </a:pPr>
            <a:r>
              <a:rPr lang="en-US" sz="2301" b="1" i="1" dirty="0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Design Wavelength at L1 Upper Edge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704445"/>
            <a:ext cx="3171011" cy="38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849" lvl="1" indent="-248425" algn="l">
              <a:lnSpc>
                <a:spcPts val="3221"/>
              </a:lnSpc>
              <a:spcBef>
                <a:spcPct val="0"/>
              </a:spcBef>
              <a:buFont typeface="Arial"/>
              <a:buChar char="•"/>
            </a:pPr>
            <a:r>
              <a:rPr lang="en-US" sz="2301" b="1" i="1" dirty="0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Element Spacing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2612" y="6307466"/>
            <a:ext cx="2740429" cy="388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= d / sin(π / N)</a:t>
            </a:r>
            <a:endParaRPr lang="en-US" sz="2300" dirty="0"/>
          </a:p>
        </p:txBody>
      </p:sp>
      <p:sp>
        <p:nvSpPr>
          <p:cNvPr id="12" name="TextBox 12"/>
          <p:cNvSpPr txBox="1"/>
          <p:nvPr/>
        </p:nvSpPr>
        <p:spPr>
          <a:xfrm>
            <a:off x="1672612" y="6880242"/>
            <a:ext cx="5807505" cy="388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= 9.34cm / sin(22.5°) ≈ 24.4cm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13033" y="6307466"/>
            <a:ext cx="866864" cy="388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1"/>
              </a:lnSpc>
              <a:spcBef>
                <a:spcPct val="0"/>
              </a:spcBef>
            </a:pPr>
            <a:r>
              <a:rPr lang="en-US" sz="230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= 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6708" y="7437308"/>
            <a:ext cx="4767127" cy="395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/ </a:t>
            </a: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λmin</a:t>
            </a: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= 9.34 / 18.68 = 0.5</a:t>
            </a:r>
            <a:endParaRPr lang="en-US" sz="2300" dirty="0">
              <a:ea typeface="Calibri"/>
              <a:cs typeface="Calibr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05995" y="8557129"/>
            <a:ext cx="6108055" cy="1204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1"/>
              </a:lnSpc>
              <a:spcBef>
                <a:spcPct val="0"/>
              </a:spcBef>
            </a:pPr>
            <a:r>
              <a:rPr lang="en-US" sz="230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L1 wavelength:</a:t>
            </a:r>
            <a:r>
              <a:rPr lang="en-US" sz="23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1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λmin</a:t>
            </a:r>
            <a:r>
              <a:rPr lang="en-US" sz="23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≈ 18.68 cm</a:t>
            </a:r>
          </a:p>
          <a:p>
            <a:pPr>
              <a:lnSpc>
                <a:spcPts val="3221"/>
              </a:lnSpc>
              <a:spcBef>
                <a:spcPct val="0"/>
              </a:spcBef>
            </a:pPr>
            <a:r>
              <a:rPr lang="en-US" sz="230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Nearest-neighbor spacing:</a:t>
            </a:r>
            <a:r>
              <a:rPr lang="en-US" sz="23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 ≈ 9.34 cm</a:t>
            </a:r>
            <a:endParaRPr lang="en-US" sz="2301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algn="l">
              <a:lnSpc>
                <a:spcPts val="3221"/>
              </a:lnSpc>
              <a:spcBef>
                <a:spcPct val="0"/>
              </a:spcBef>
            </a:pPr>
            <a:r>
              <a:rPr lang="en-US" sz="230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Pitch-Circle Diameter:</a:t>
            </a:r>
            <a:r>
              <a:rPr lang="en-US" sz="23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 ≈ 24.4 cm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640" y="6884235"/>
            <a:ext cx="7564166" cy="2957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 Components Used for Scaling </a:t>
            </a:r>
            <a:endParaRPr lang="en-US" sz="240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RFIC / ADC:</a:t>
            </a:r>
            <a:r>
              <a:rPr lang="en-US" sz="2400" dirty="0">
                <a:ea typeface="+mn-lt"/>
                <a:cs typeface="+mn-lt"/>
                <a:sym typeface="Open Sauce"/>
              </a:rPr>
              <a:t> Analog Devices </a:t>
            </a:r>
            <a:r>
              <a:rPr lang="en-US" sz="2400" b="1" dirty="0">
                <a:ea typeface="+mn-lt"/>
                <a:cs typeface="+mn-lt"/>
                <a:sym typeface="Open Sauce"/>
              </a:rPr>
              <a:t>ADRV9026</a:t>
            </a:r>
            <a:endParaRPr lang="en-US" sz="2400" b="1" dirty="0">
              <a:ea typeface="+mn-lt"/>
              <a:cs typeface="+mn-lt"/>
            </a:endParaRPr>
          </a:p>
          <a:p>
            <a:pPr lvl="1" algn="l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FPGA:</a:t>
            </a:r>
            <a:r>
              <a:rPr lang="en-US" sz="2400" dirty="0">
                <a:ea typeface="+mn-lt"/>
                <a:cs typeface="+mn-lt"/>
                <a:sym typeface="Open Sauce"/>
              </a:rPr>
              <a:t> AMD </a:t>
            </a:r>
            <a:r>
              <a:rPr lang="en-US" sz="2400" dirty="0" err="1">
                <a:ea typeface="+mn-lt"/>
                <a:cs typeface="+mn-lt"/>
                <a:sym typeface="Open Sauce"/>
              </a:rPr>
              <a:t>Kintex</a:t>
            </a:r>
            <a:r>
              <a:rPr lang="en-US" sz="2400" dirty="0">
                <a:ea typeface="+mn-lt"/>
                <a:cs typeface="+mn-lt"/>
                <a:sym typeface="Open Sauce"/>
              </a:rPr>
              <a:t> </a:t>
            </a:r>
            <a:r>
              <a:rPr lang="en-US" sz="2400" dirty="0" err="1">
                <a:ea typeface="+mn-lt"/>
                <a:cs typeface="+mn-lt"/>
                <a:sym typeface="Open Sauce"/>
              </a:rPr>
              <a:t>UltraScale</a:t>
            </a:r>
            <a:r>
              <a:rPr lang="en-US" sz="2400" dirty="0">
                <a:ea typeface="+mn-lt"/>
                <a:cs typeface="+mn-lt"/>
                <a:sym typeface="Open Sauce"/>
              </a:rPr>
              <a:t>+ </a:t>
            </a:r>
            <a:r>
              <a:rPr lang="en-US" sz="2400" b="1" dirty="0">
                <a:ea typeface="+mn-lt"/>
                <a:cs typeface="+mn-lt"/>
                <a:sym typeface="Open Sauce"/>
              </a:rPr>
              <a:t>XQKU5P</a:t>
            </a:r>
            <a:endParaRPr lang="en-US" sz="2400" dirty="0">
              <a:ea typeface="Calibri"/>
              <a:cs typeface="Calibri"/>
            </a:endParaRPr>
          </a:p>
          <a:p>
            <a:pPr lvl="1" algn="l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LNA:</a:t>
            </a:r>
            <a:r>
              <a:rPr lang="en-US" sz="2400" dirty="0">
                <a:ea typeface="+mn-lt"/>
                <a:cs typeface="+mn-lt"/>
                <a:sym typeface="Open Sauce"/>
              </a:rPr>
              <a:t> Analog Devices </a:t>
            </a:r>
            <a:r>
              <a:rPr lang="en-US" sz="2400" b="1" dirty="0">
                <a:ea typeface="+mn-lt"/>
                <a:cs typeface="+mn-lt"/>
                <a:sym typeface="Open Sauce"/>
              </a:rPr>
              <a:t>ADL5521</a:t>
            </a:r>
            <a:endParaRPr lang="en-US" sz="2400" b="1" dirty="0">
              <a:ea typeface="+mn-lt"/>
              <a:cs typeface="+mn-lt"/>
            </a:endParaRPr>
          </a:p>
          <a:p>
            <a:pPr lvl="1" algn="l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Clock Distribution:</a:t>
            </a:r>
            <a:r>
              <a:rPr lang="en-US" sz="2400" dirty="0">
                <a:ea typeface="+mn-lt"/>
                <a:cs typeface="+mn-lt"/>
                <a:sym typeface="Open Sauce"/>
              </a:rPr>
              <a:t> Analog Devices </a:t>
            </a:r>
            <a:r>
              <a:rPr lang="en-US" sz="2400" b="1" dirty="0">
                <a:ea typeface="+mn-lt"/>
                <a:cs typeface="+mn-lt"/>
                <a:sym typeface="Open Sauce"/>
              </a:rPr>
              <a:t>HMC7044B</a:t>
            </a:r>
            <a:endParaRPr lang="en-US" sz="2400" b="1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Reference Oscillator:</a:t>
            </a:r>
            <a:r>
              <a:rPr lang="en-US" sz="2400" dirty="0">
                <a:ea typeface="+mn-lt"/>
                <a:cs typeface="+mn-lt"/>
                <a:sym typeface="Open Sauce"/>
              </a:rPr>
              <a:t> SiTime </a:t>
            </a:r>
            <a:r>
              <a:rPr lang="en-US" sz="2400" b="1" dirty="0">
                <a:ea typeface="+mn-lt"/>
                <a:cs typeface="+mn-lt"/>
                <a:sym typeface="Open Sauce"/>
              </a:rPr>
              <a:t>SiT9346</a:t>
            </a:r>
            <a:endParaRPr lang="en-US" sz="24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L1 Preselector Filter:</a:t>
            </a:r>
            <a:r>
              <a:rPr lang="en-US" sz="2400" dirty="0">
                <a:ea typeface="+mn-lt"/>
                <a:cs typeface="+mn-lt"/>
                <a:sym typeface="Open Sauce"/>
              </a:rPr>
              <a:t> </a:t>
            </a:r>
            <a:r>
              <a:rPr lang="en-US" sz="2400" dirty="0" err="1">
                <a:ea typeface="+mn-lt"/>
                <a:cs typeface="+mn-lt"/>
                <a:sym typeface="Open Sauce"/>
              </a:rPr>
              <a:t>Anatech</a:t>
            </a:r>
            <a:r>
              <a:rPr lang="en-US" sz="2400" dirty="0">
                <a:ea typeface="+mn-lt"/>
                <a:cs typeface="+mn-lt"/>
                <a:sym typeface="Open Sauce"/>
              </a:rPr>
              <a:t> </a:t>
            </a:r>
            <a:r>
              <a:rPr lang="en-US" sz="2400" b="1" dirty="0">
                <a:ea typeface="+mn-lt"/>
                <a:cs typeface="+mn-lt"/>
                <a:sym typeface="Open Sauce"/>
              </a:rPr>
              <a:t>AM1600S1059</a:t>
            </a:r>
            <a:endParaRPr lang="en-US" sz="24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  <a:sym typeface="Open Sauce"/>
              </a:rPr>
              <a:t>L2 + L5 Preselector Filter:</a:t>
            </a:r>
            <a:r>
              <a:rPr lang="en-US" sz="2400" dirty="0">
                <a:ea typeface="+mn-lt"/>
                <a:cs typeface="+mn-lt"/>
                <a:sym typeface="Open Sauce"/>
              </a:rPr>
              <a:t> </a:t>
            </a:r>
            <a:r>
              <a:rPr lang="en-US" sz="2400" dirty="0" err="1">
                <a:ea typeface="+mn-lt"/>
                <a:cs typeface="+mn-lt"/>
                <a:sym typeface="Open Sauce"/>
              </a:rPr>
              <a:t>Abracon</a:t>
            </a:r>
            <a:r>
              <a:rPr lang="en-US" sz="2400" dirty="0">
                <a:ea typeface="+mn-lt"/>
                <a:cs typeface="+mn-lt"/>
                <a:sym typeface="Open Sauce"/>
              </a:rPr>
              <a:t> </a:t>
            </a:r>
            <a:r>
              <a:rPr lang="en-US" sz="2400" b="1" dirty="0">
                <a:ea typeface="+mn-lt"/>
                <a:cs typeface="+mn-lt"/>
                <a:sym typeface="Open Sauce"/>
              </a:rPr>
              <a:t>AFII-SW-0065</a:t>
            </a:r>
            <a:endParaRPr lang="en-US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77007" y="2391735"/>
          <a:ext cx="8387079" cy="3924300"/>
        </p:xfrm>
        <a:graphic>
          <a:graphicData uri="http://schemas.openxmlformats.org/drawingml/2006/table">
            <a:tbl>
              <a:tblPr/>
              <a:tblGrid>
                <a:gridCol w="1324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760"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Freq.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EIRP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Gant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Distance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FSPL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J1 - CW jammer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1575.42 MHz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50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−15 dBic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 km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110.4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−75.4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390"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J2 - Noise Jammer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1176.45 MHz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50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−12 dBic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 km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111.9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−73.9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J3 -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1486 MHz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60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−18 dBic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 km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107.9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  <a:defRPr/>
                      </a:pPr>
                      <a:r>
                        <a:rPr lang="en-US" sz="15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−65.9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50305" y="2391735"/>
          <a:ext cx="7523622" cy="3924300"/>
        </p:xfrm>
        <a:graphic>
          <a:graphicData uri="http://schemas.openxmlformats.org/drawingml/2006/table">
            <a:tbl>
              <a:tblPr/>
              <a:tblGrid>
                <a:gridCol w="1712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6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In-band / Out-of-band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Suppression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Reason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J1 - CW jammer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In-band L1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Spatial nulling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Same band as desired L1 GNSS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J2 - Noise Jammer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In-band L5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Spatial nulling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Same band as desired L5 GNSS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J3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Out-of-band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Preselector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2"/>
                        </a:lnSpc>
                        <a:defRPr/>
                      </a:pPr>
                      <a:r>
                        <a:rPr lang="en-US" sz="153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Outside desired GNSS bands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915820" y="893445"/>
            <a:ext cx="14700200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Interference Power &amp; Suppression Strategy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7007" y="6493765"/>
            <a:ext cx="6240929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FSPL = 32.44 + 20log10(dkm) + 20log10(fMHz)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16" y="6970463"/>
            <a:ext cx="5350097" cy="37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967" lvl="1" indent="-240983" algn="l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Representative GPS Signal Levels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7007" y="7417079"/>
            <a:ext cx="2548235" cy="10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5"/>
              </a:lnSpc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L1 C/A ≈ −128.5 dBm</a:t>
            </a:r>
          </a:p>
          <a:p>
            <a:pPr algn="just">
              <a:lnSpc>
                <a:spcPts val="2705"/>
              </a:lnSpc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L2C ≈ −130.0 dBm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L5 ≈ −127.9 dBm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616" y="8568147"/>
            <a:ext cx="3370099" cy="37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967" lvl="1" indent="-240983" algn="l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Thermal Noise Floor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7007" y="9016270"/>
            <a:ext cx="4727674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5"/>
              </a:lnSpc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L1 chain (46.834 MHz) ≈ −97.3 dBm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L2+L5 chain (82.916 MHz) ≈ −94.8 dBm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5267" y="6970463"/>
            <a:ext cx="3370099" cy="37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967" lvl="1" indent="-240983" algn="l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Jammer Severity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86544" y="7401146"/>
            <a:ext cx="4636500" cy="23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5"/>
              </a:lnSpc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J1: −75.4 dBm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≈53.1 dB above GPS L1 C/A reference level</a:t>
            </a:r>
          </a:p>
          <a:p>
            <a:pPr algn="just">
              <a:lnSpc>
                <a:spcPts val="2705"/>
              </a:lnSpc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J2: −73.9 dBm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≈54.0 dB above GPS L5 reference level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J3: −65.9 dBm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strongest received interferer; out-of-band with respect to the desired GNSS bands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64353" y="6970463"/>
            <a:ext cx="4823683" cy="363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1967" lvl="1" indent="-240983" algn="l">
              <a:lnSpc>
                <a:spcPts val="3125"/>
              </a:lnSpc>
              <a:spcBef>
                <a:spcPct val="0"/>
              </a:spcBef>
              <a:buFont typeface="Arial"/>
              <a:buChar char="•"/>
            </a:pPr>
            <a:r>
              <a:rPr lang="en-US" sz="22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J3 Preselector Requirement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52103" y="7417079"/>
            <a:ext cx="4811018" cy="136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5"/>
              </a:lnSpc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J3 received power: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−65.9 dBm</a:t>
            </a:r>
          </a:p>
          <a:p>
            <a:pPr algn="just">
              <a:lnSpc>
                <a:spcPts val="2705"/>
              </a:lnSpc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Target residual: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≤ L1 thermal-noise floor</a:t>
            </a:r>
          </a:p>
          <a:p>
            <a:pPr algn="just">
              <a:lnSpc>
                <a:spcPts val="2705"/>
              </a:lnSpc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Required rejection: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≈ 31.4 dB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 b="1" i="1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Design target: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≥ 32 dB at 1486 MHz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6784" y="2289711"/>
            <a:ext cx="3587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" name="AutoShape 3"/>
          <p:cNvSpPr/>
          <p:nvPr/>
        </p:nvSpPr>
        <p:spPr>
          <a:xfrm>
            <a:off x="3983798" y="2308761"/>
            <a:ext cx="3587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" name="Freeform 4"/>
          <p:cNvSpPr/>
          <p:nvPr/>
        </p:nvSpPr>
        <p:spPr>
          <a:xfrm>
            <a:off x="8251867" y="1856190"/>
            <a:ext cx="420551" cy="367526"/>
          </a:xfrm>
          <a:custGeom>
            <a:avLst/>
            <a:gdLst/>
            <a:ahLst/>
            <a:cxnLst/>
            <a:rect l="l" t="t" r="r" b="b"/>
            <a:pathLst>
              <a:path w="420551" h="367526">
                <a:moveTo>
                  <a:pt x="0" y="367526"/>
                </a:moveTo>
                <a:lnTo>
                  <a:pt x="105138" y="367526"/>
                </a:lnTo>
                <a:cubicBezTo>
                  <a:pt x="163204" y="367526"/>
                  <a:pt x="210275" y="320454"/>
                  <a:pt x="210275" y="262388"/>
                </a:cubicBezTo>
                <a:lnTo>
                  <a:pt x="210275" y="105138"/>
                </a:lnTo>
                <a:cubicBezTo>
                  <a:pt x="210275" y="77253"/>
                  <a:pt x="221352" y="50511"/>
                  <a:pt x="241070" y="30794"/>
                </a:cubicBezTo>
                <a:cubicBezTo>
                  <a:pt x="260787" y="11077"/>
                  <a:pt x="287529" y="0"/>
                  <a:pt x="315413" y="0"/>
                </a:cubicBezTo>
                <a:lnTo>
                  <a:pt x="420551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AutoShape 5"/>
          <p:cNvSpPr/>
          <p:nvPr/>
        </p:nvSpPr>
        <p:spPr>
          <a:xfrm>
            <a:off x="10600914" y="1842692"/>
            <a:ext cx="3587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" name="Freeform 6"/>
          <p:cNvSpPr/>
          <p:nvPr/>
        </p:nvSpPr>
        <p:spPr>
          <a:xfrm>
            <a:off x="8206363" y="2224962"/>
            <a:ext cx="466055" cy="421669"/>
          </a:xfrm>
          <a:custGeom>
            <a:avLst/>
            <a:gdLst/>
            <a:ahLst/>
            <a:cxnLst/>
            <a:rect l="l" t="t" r="r" b="b"/>
            <a:pathLst>
              <a:path w="466055" h="421669">
                <a:moveTo>
                  <a:pt x="0" y="0"/>
                </a:moveTo>
                <a:lnTo>
                  <a:pt x="116513" y="0"/>
                </a:lnTo>
                <a:cubicBezTo>
                  <a:pt x="180862" y="0"/>
                  <a:pt x="233027" y="52165"/>
                  <a:pt x="233027" y="116514"/>
                </a:cubicBezTo>
                <a:lnTo>
                  <a:pt x="233027" y="305155"/>
                </a:lnTo>
                <a:cubicBezTo>
                  <a:pt x="233027" y="369504"/>
                  <a:pt x="285192" y="421669"/>
                  <a:pt x="349541" y="421669"/>
                </a:cubicBezTo>
                <a:lnTo>
                  <a:pt x="466055" y="421669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AutoShape 7"/>
          <p:cNvSpPr/>
          <p:nvPr/>
        </p:nvSpPr>
        <p:spPr>
          <a:xfrm>
            <a:off x="10600914" y="2666098"/>
            <a:ext cx="3587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8" name="Group 8"/>
          <p:cNvGrpSpPr/>
          <p:nvPr/>
        </p:nvGrpSpPr>
        <p:grpSpPr>
          <a:xfrm>
            <a:off x="12629180" y="1280389"/>
            <a:ext cx="5243458" cy="1809714"/>
            <a:chOff x="0" y="0"/>
            <a:chExt cx="1380993" cy="4766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0993" cy="476633"/>
            </a:xfrm>
            <a:custGeom>
              <a:avLst/>
              <a:gdLst/>
              <a:ahLst/>
              <a:cxnLst/>
              <a:rect l="l" t="t" r="r" b="b"/>
              <a:pathLst>
                <a:path w="1380993" h="476633">
                  <a:moveTo>
                    <a:pt x="0" y="0"/>
                  </a:moveTo>
                  <a:lnTo>
                    <a:pt x="1380993" y="0"/>
                  </a:lnTo>
                  <a:lnTo>
                    <a:pt x="1380993" y="476633"/>
                  </a:lnTo>
                  <a:lnTo>
                    <a:pt x="0" y="476633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80993" cy="51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869545" y="3374565"/>
          <a:ext cx="7407224" cy="5676899"/>
        </p:xfrm>
        <a:graphic>
          <a:graphicData uri="http://schemas.openxmlformats.org/drawingml/2006/table">
            <a:tbl>
              <a:tblPr/>
              <a:tblGrid>
                <a:gridCol w="1793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4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0723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Gain / Loss*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NF*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  <a:defRPr/>
                      </a:pPr>
                      <a:r>
                        <a:rPr lang="en-US" sz="20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Linearity / Limit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544"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ADL5521 LNA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+13 / +15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≈1.0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OP1dB ≈ +21.8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544"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GNSS Diplexer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−1.0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≈1.0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+30 dBm CW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544"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Preselector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−4.0 / −1.2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4.0 / 1.2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Passive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1544"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ADRV9026 Rx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≈11.5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25"/>
                        </a:lnSpc>
                        <a:defRPr/>
                      </a:pPr>
                      <a:r>
                        <a:rPr lang="en-US" sz="17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IIP3 &gt; +15 dBm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275552" y="465244"/>
            <a:ext cx="14072324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 Front-End, Cascade &amp; ADC Headroom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3769" y="1551889"/>
            <a:ext cx="4552712" cy="466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2"/>
              </a:lnSpc>
              <a:spcBef>
                <a:spcPct val="0"/>
              </a:spcBef>
            </a:pPr>
            <a:r>
              <a:rPr lang="en-US" sz="280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RF Front-End</a:t>
            </a:r>
            <a:r>
              <a:rPr lang="en-US" sz="280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209" y="2116132"/>
            <a:ext cx="1290548" cy="316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Antenna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5495" y="2150422"/>
            <a:ext cx="2096423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ADL5521 LNA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82263" y="2025571"/>
            <a:ext cx="4551759" cy="668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Johanson 1224DP15A1572001E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Open Sauce"/>
            </a:endParaRPr>
          </a:p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Diplexer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950101" y="1661493"/>
            <a:ext cx="1551444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ADRV9026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13255" y="1694698"/>
            <a:ext cx="2157204" cy="650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AM1600S1059</a:t>
            </a:r>
          </a:p>
          <a:p>
            <a:pPr algn="ctr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(L1 Filter)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0101" y="2471353"/>
            <a:ext cx="1551444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ADRV9026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60855" y="2464162"/>
            <a:ext cx="2359819" cy="657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AFII-SW-0065</a:t>
            </a:r>
          </a:p>
          <a:p>
            <a:pPr algn="ctr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(L2+L5 Filter)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7842" y="2774696"/>
            <a:ext cx="3926473" cy="351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1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L1 Filter — AM1600S1059</a:t>
            </a:r>
            <a:r>
              <a:rPr lang="en-US" sz="21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722" y="3122476"/>
            <a:ext cx="5139273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Passband: 1550–1650 MHz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Insertion Loss: ≤ 4.0 dB</a:t>
            </a:r>
            <a:endParaRPr lang="en-US" sz="190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Rejection: ≥ 45 dB at 1200–1500 MHz</a:t>
            </a:r>
            <a:endParaRPr lang="en-US" sz="190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26402" y="4450267"/>
            <a:ext cx="4528096" cy="351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1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L2+L5 Filter — AFII-SW-0065</a:t>
            </a:r>
            <a:r>
              <a:rPr lang="en-US" sz="21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0722" y="4805680"/>
            <a:ext cx="5030867" cy="1048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Passband: 1166–1300 MHz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Insertion Loss: 1.0 dB typ. / 1.9 dB max</a:t>
            </a:r>
            <a:endParaRPr lang="en-US" sz="190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>
              <a:lnSpc>
                <a:spcPts val="2705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Rejection: ≥35 dB at 1400–1520 MHz</a:t>
            </a:r>
            <a:endParaRPr lang="en-US" sz="190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933288" y="1372308"/>
            <a:ext cx="4757916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order: LNA → Diplexer → Filter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33288" y="2118722"/>
            <a:ext cx="4631409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Reason:</a:t>
            </a: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 Avoids pre-LNA insertion loss and preserves receiver noise figure.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5209" y="7858717"/>
            <a:ext cx="6443825" cy="674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Friis: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F_total = F_1 + (F_2-1)/G_1 + (F_3-1)/(G_1 G_2) + (F_4-1)/(G_1 G_2 G_3)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4482" y="6088193"/>
            <a:ext cx="679126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GNSS Diplexer —  Johanson 1224DP15A1572001E</a:t>
            </a: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0722" y="6414396"/>
            <a:ext cx="4268093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 band: 1164–1285 MHz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 band: 1539–1606 MHz</a:t>
            </a:r>
          </a:p>
          <a:p>
            <a:pPr algn="just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IL ≤ 1.0 dB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67092" y="9043845"/>
            <a:ext cx="6614487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Values are given as L1 / L2+L5 where applicable.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346800" y="3381015"/>
            <a:ext cx="3086308" cy="316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Cascade Noise Figure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99200" y="3705313"/>
            <a:ext cx="2690068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L1: ≈ 5.4 dB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L2+L5: ≈ 2.9 dB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514087" y="5193225"/>
            <a:ext cx="3651102" cy="10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L1: Total Rx input ≈ −67.0 dBm → ≈56.3 dB headroom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499200" y="4795197"/>
            <a:ext cx="3651102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ADC Full-Scale Headroom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98847" y="6241423"/>
            <a:ext cx="3803502" cy="1009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L2+L5: Total Rx input ≈ −60.8 dBm → ≈50.1 dB headroom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562" y="8866456"/>
            <a:ext cx="6250227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Noise Figure: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NF_total</a:t>
            </a: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= 10 log_10(F_total)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29168" y="7676778"/>
            <a:ext cx="3806406" cy="661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00" b="1" i="1" dirty="0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Input-referred headroom using ADRV9026 P_HIGH= -10.7 dBm </a:t>
            </a:r>
            <a:endParaRPr lang="en-US" sz="1900" b="1" i="1" dirty="0">
              <a:solidFill>
                <a:srgbClr val="000000"/>
              </a:solidFill>
              <a:latin typeface="Open Sauce Bold Italics"/>
              <a:ea typeface="Open Sauce Bold Italics"/>
              <a:cs typeface="Open Sauce Bold Itali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6146" y="924879"/>
            <a:ext cx="2255189" cy="949718"/>
            <a:chOff x="0" y="0"/>
            <a:chExt cx="812800" cy="3422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342291"/>
            </a:xfrm>
            <a:custGeom>
              <a:avLst/>
              <a:gdLst/>
              <a:ahLst/>
              <a:cxnLst/>
              <a:rect l="l" t="t" r="r" b="b"/>
              <a:pathLst>
                <a:path w="812800" h="342291">
                  <a:moveTo>
                    <a:pt x="0" y="0"/>
                  </a:moveTo>
                  <a:lnTo>
                    <a:pt x="812800" y="0"/>
                  </a:lnTo>
                  <a:lnTo>
                    <a:pt x="812800" y="342291"/>
                  </a:lnTo>
                  <a:lnTo>
                    <a:pt x="0" y="34229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380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57074" y="971609"/>
            <a:ext cx="2255189" cy="949718"/>
            <a:chOff x="0" y="0"/>
            <a:chExt cx="812800" cy="3422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342291"/>
            </a:xfrm>
            <a:custGeom>
              <a:avLst/>
              <a:gdLst/>
              <a:ahLst/>
              <a:cxnLst/>
              <a:rect l="l" t="t" r="r" b="b"/>
              <a:pathLst>
                <a:path w="812800" h="342291">
                  <a:moveTo>
                    <a:pt x="0" y="0"/>
                  </a:moveTo>
                  <a:lnTo>
                    <a:pt x="812800" y="0"/>
                  </a:lnTo>
                  <a:lnTo>
                    <a:pt x="812800" y="342291"/>
                  </a:lnTo>
                  <a:lnTo>
                    <a:pt x="0" y="34229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380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82473" y="403634"/>
            <a:ext cx="1969560" cy="622199"/>
            <a:chOff x="0" y="0"/>
            <a:chExt cx="518732" cy="1638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8732" cy="163871"/>
            </a:xfrm>
            <a:custGeom>
              <a:avLst/>
              <a:gdLst/>
              <a:ahLst/>
              <a:cxnLst/>
              <a:rect l="l" t="t" r="r" b="b"/>
              <a:pathLst>
                <a:path w="518732" h="163871">
                  <a:moveTo>
                    <a:pt x="0" y="0"/>
                  </a:moveTo>
                  <a:lnTo>
                    <a:pt x="518732" y="0"/>
                  </a:lnTo>
                  <a:lnTo>
                    <a:pt x="518732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18732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582473" y="529725"/>
            <a:ext cx="1969560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ADRV9026 #1</a:t>
            </a:r>
          </a:p>
        </p:txBody>
      </p:sp>
      <p:sp>
        <p:nvSpPr>
          <p:cNvPr id="12" name="Freeform 12"/>
          <p:cNvSpPr/>
          <p:nvPr/>
        </p:nvSpPr>
        <p:spPr>
          <a:xfrm>
            <a:off x="5674296" y="164900"/>
            <a:ext cx="5301781" cy="1312793"/>
          </a:xfrm>
          <a:custGeom>
            <a:avLst/>
            <a:gdLst/>
            <a:ahLst/>
            <a:cxnLst/>
            <a:rect l="l" t="t" r="r" b="b"/>
            <a:pathLst>
              <a:path w="5301781" h="1312793">
                <a:moveTo>
                  <a:pt x="0" y="1312793"/>
                </a:moveTo>
                <a:lnTo>
                  <a:pt x="233265" y="1312793"/>
                </a:lnTo>
                <a:cubicBezTo>
                  <a:pt x="359517" y="1312793"/>
                  <a:pt x="461865" y="1210445"/>
                  <a:pt x="461865" y="1084193"/>
                </a:cubicBezTo>
                <a:lnTo>
                  <a:pt x="461865" y="228600"/>
                </a:lnTo>
                <a:cubicBezTo>
                  <a:pt x="461865" y="102347"/>
                  <a:pt x="564212" y="0"/>
                  <a:pt x="690465" y="0"/>
                </a:cubicBezTo>
                <a:lnTo>
                  <a:pt x="5142603" y="0"/>
                </a:lnTo>
                <a:cubicBezTo>
                  <a:pt x="5184819" y="0"/>
                  <a:pt x="5225308" y="16770"/>
                  <a:pt x="5255159" y="46622"/>
                </a:cubicBezTo>
                <a:cubicBezTo>
                  <a:pt x="5285011" y="76474"/>
                  <a:pt x="5301781" y="116961"/>
                  <a:pt x="5301781" y="159178"/>
                </a:cubicBezTo>
                <a:lnTo>
                  <a:pt x="5301781" y="318356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5493279" y="1473850"/>
            <a:ext cx="1054927" cy="131"/>
          </a:xfrm>
          <a:custGeom>
            <a:avLst/>
            <a:gdLst/>
            <a:ahLst/>
            <a:cxnLst/>
            <a:rect l="l" t="t" r="r" b="b"/>
            <a:pathLst>
              <a:path w="1054927" h="131">
                <a:moveTo>
                  <a:pt x="0" y="0"/>
                </a:moveTo>
                <a:lnTo>
                  <a:pt x="642816" y="0"/>
                </a:lnTo>
                <a:cubicBezTo>
                  <a:pt x="642852" y="0"/>
                  <a:pt x="642882" y="29"/>
                  <a:pt x="642882" y="66"/>
                </a:cubicBezTo>
                <a:lnTo>
                  <a:pt x="642882" y="66"/>
                </a:lnTo>
                <a:cubicBezTo>
                  <a:pt x="642882" y="102"/>
                  <a:pt x="642911" y="131"/>
                  <a:pt x="642948" y="131"/>
                </a:cubicBezTo>
                <a:lnTo>
                  <a:pt x="1054928" y="13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Freeform 14"/>
          <p:cNvSpPr/>
          <p:nvPr/>
        </p:nvSpPr>
        <p:spPr>
          <a:xfrm>
            <a:off x="5493279" y="1473850"/>
            <a:ext cx="1026714" cy="1568180"/>
          </a:xfrm>
          <a:custGeom>
            <a:avLst/>
            <a:gdLst/>
            <a:ahLst/>
            <a:cxnLst/>
            <a:rect l="l" t="t" r="r" b="b"/>
            <a:pathLst>
              <a:path w="1026714" h="1568180">
                <a:moveTo>
                  <a:pt x="0" y="0"/>
                </a:moveTo>
                <a:lnTo>
                  <a:pt x="414282" y="0"/>
                </a:lnTo>
                <a:cubicBezTo>
                  <a:pt x="540534" y="0"/>
                  <a:pt x="642882" y="102348"/>
                  <a:pt x="642882" y="228600"/>
                </a:cubicBezTo>
                <a:lnTo>
                  <a:pt x="642882" y="1376264"/>
                </a:lnTo>
                <a:cubicBezTo>
                  <a:pt x="642882" y="1482256"/>
                  <a:pt x="728806" y="1568180"/>
                  <a:pt x="834798" y="1568180"/>
                </a:cubicBezTo>
                <a:lnTo>
                  <a:pt x="1026714" y="156818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5" name="Group 15"/>
          <p:cNvGrpSpPr/>
          <p:nvPr/>
        </p:nvGrpSpPr>
        <p:grpSpPr>
          <a:xfrm>
            <a:off x="6582473" y="1162882"/>
            <a:ext cx="1969560" cy="622199"/>
            <a:chOff x="0" y="0"/>
            <a:chExt cx="518732" cy="1638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8732" cy="163871"/>
            </a:xfrm>
            <a:custGeom>
              <a:avLst/>
              <a:gdLst/>
              <a:ahLst/>
              <a:cxnLst/>
              <a:rect l="l" t="t" r="r" b="b"/>
              <a:pathLst>
                <a:path w="518732" h="163871">
                  <a:moveTo>
                    <a:pt x="0" y="0"/>
                  </a:moveTo>
                  <a:lnTo>
                    <a:pt x="518732" y="0"/>
                  </a:lnTo>
                  <a:lnTo>
                    <a:pt x="518732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18732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493279" y="1473850"/>
            <a:ext cx="1026714" cy="808933"/>
          </a:xfrm>
          <a:custGeom>
            <a:avLst/>
            <a:gdLst/>
            <a:ahLst/>
            <a:cxnLst/>
            <a:rect l="l" t="t" r="r" b="b"/>
            <a:pathLst>
              <a:path w="1026714" h="808933">
                <a:moveTo>
                  <a:pt x="0" y="0"/>
                </a:moveTo>
                <a:lnTo>
                  <a:pt x="414282" y="0"/>
                </a:lnTo>
                <a:cubicBezTo>
                  <a:pt x="540534" y="0"/>
                  <a:pt x="642882" y="102348"/>
                  <a:pt x="642882" y="228600"/>
                </a:cubicBezTo>
                <a:lnTo>
                  <a:pt x="642882" y="617016"/>
                </a:lnTo>
                <a:cubicBezTo>
                  <a:pt x="642882" y="723009"/>
                  <a:pt x="728806" y="808933"/>
                  <a:pt x="834798" y="808933"/>
                </a:cubicBezTo>
                <a:lnTo>
                  <a:pt x="1026714" y="808933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9" name="Group 19"/>
          <p:cNvGrpSpPr/>
          <p:nvPr/>
        </p:nvGrpSpPr>
        <p:grpSpPr>
          <a:xfrm>
            <a:off x="6582473" y="1971683"/>
            <a:ext cx="1969560" cy="622199"/>
            <a:chOff x="0" y="0"/>
            <a:chExt cx="518732" cy="1638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8732" cy="163871"/>
            </a:xfrm>
            <a:custGeom>
              <a:avLst/>
              <a:gdLst/>
              <a:ahLst/>
              <a:cxnLst/>
              <a:rect l="l" t="t" r="r" b="b"/>
              <a:pathLst>
                <a:path w="518732" h="163871">
                  <a:moveTo>
                    <a:pt x="0" y="0"/>
                  </a:moveTo>
                  <a:lnTo>
                    <a:pt x="518732" y="0"/>
                  </a:lnTo>
                  <a:lnTo>
                    <a:pt x="518732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8732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82473" y="2730931"/>
            <a:ext cx="1969560" cy="622199"/>
            <a:chOff x="0" y="0"/>
            <a:chExt cx="518732" cy="1638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8732" cy="163871"/>
            </a:xfrm>
            <a:custGeom>
              <a:avLst/>
              <a:gdLst/>
              <a:ahLst/>
              <a:cxnLst/>
              <a:rect l="l" t="t" r="r" b="b"/>
              <a:pathLst>
                <a:path w="518732" h="163871">
                  <a:moveTo>
                    <a:pt x="0" y="0"/>
                  </a:moveTo>
                  <a:lnTo>
                    <a:pt x="518732" y="0"/>
                  </a:lnTo>
                  <a:lnTo>
                    <a:pt x="518732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18732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5312263" y="1473567"/>
            <a:ext cx="362033" cy="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0583822" y="613234"/>
            <a:ext cx="993426" cy="1473198"/>
            <a:chOff x="0" y="0"/>
            <a:chExt cx="261643" cy="3880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1643" cy="388003"/>
            </a:xfrm>
            <a:custGeom>
              <a:avLst/>
              <a:gdLst/>
              <a:ahLst/>
              <a:cxnLst/>
              <a:rect l="l" t="t" r="r" b="b"/>
              <a:pathLst>
                <a:path w="261643" h="388003">
                  <a:moveTo>
                    <a:pt x="0" y="0"/>
                  </a:moveTo>
                  <a:lnTo>
                    <a:pt x="261643" y="0"/>
                  </a:lnTo>
                  <a:lnTo>
                    <a:pt x="261643" y="388003"/>
                  </a:lnTo>
                  <a:lnTo>
                    <a:pt x="0" y="388003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61643" cy="426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8656859" y="1472930"/>
            <a:ext cx="1780973" cy="47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Freeform 30"/>
          <p:cNvSpPr/>
          <p:nvPr/>
        </p:nvSpPr>
        <p:spPr>
          <a:xfrm>
            <a:off x="8648212" y="2140418"/>
            <a:ext cx="2044886" cy="166201"/>
          </a:xfrm>
          <a:custGeom>
            <a:avLst/>
            <a:gdLst/>
            <a:ahLst/>
            <a:cxnLst/>
            <a:rect l="l" t="t" r="r" b="b"/>
            <a:pathLst>
              <a:path w="2044886" h="166201">
                <a:moveTo>
                  <a:pt x="0" y="166201"/>
                </a:moveTo>
                <a:lnTo>
                  <a:pt x="1961786" y="166201"/>
                </a:lnTo>
                <a:cubicBezTo>
                  <a:pt x="2007681" y="166201"/>
                  <a:pt x="2044886" y="128996"/>
                  <a:pt x="2044886" y="83100"/>
                </a:cubicBezTo>
                <a:lnTo>
                  <a:pt x="2044886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1" name="Freeform 31"/>
          <p:cNvSpPr/>
          <p:nvPr/>
        </p:nvSpPr>
        <p:spPr>
          <a:xfrm>
            <a:off x="8648212" y="2140418"/>
            <a:ext cx="2603143" cy="901612"/>
          </a:xfrm>
          <a:custGeom>
            <a:avLst/>
            <a:gdLst/>
            <a:ahLst/>
            <a:cxnLst/>
            <a:rect l="l" t="t" r="r" b="b"/>
            <a:pathLst>
              <a:path w="2603143" h="901612">
                <a:moveTo>
                  <a:pt x="0" y="897329"/>
                </a:moveTo>
                <a:lnTo>
                  <a:pt x="0" y="899470"/>
                </a:lnTo>
                <a:cubicBezTo>
                  <a:pt x="0" y="900653"/>
                  <a:pt x="959" y="901612"/>
                  <a:pt x="2142" y="901612"/>
                </a:cubicBezTo>
                <a:lnTo>
                  <a:pt x="2374543" y="901612"/>
                </a:lnTo>
                <a:cubicBezTo>
                  <a:pt x="2435172" y="901612"/>
                  <a:pt x="2493317" y="877528"/>
                  <a:pt x="2536187" y="834657"/>
                </a:cubicBezTo>
                <a:cubicBezTo>
                  <a:pt x="2579059" y="791786"/>
                  <a:pt x="2603143" y="733641"/>
                  <a:pt x="2603143" y="673012"/>
                </a:cubicBezTo>
                <a:lnTo>
                  <a:pt x="2603143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AutoShape 32"/>
          <p:cNvSpPr/>
          <p:nvPr/>
        </p:nvSpPr>
        <p:spPr>
          <a:xfrm>
            <a:off x="11647401" y="1330399"/>
            <a:ext cx="478820" cy="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12196373" y="1038734"/>
            <a:ext cx="993426" cy="622199"/>
            <a:chOff x="0" y="0"/>
            <a:chExt cx="261643" cy="16387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61643" cy="163871"/>
            </a:xfrm>
            <a:custGeom>
              <a:avLst/>
              <a:gdLst/>
              <a:ahLst/>
              <a:cxnLst/>
              <a:rect l="l" t="t" r="r" b="b"/>
              <a:pathLst>
                <a:path w="261643" h="163871">
                  <a:moveTo>
                    <a:pt x="0" y="0"/>
                  </a:moveTo>
                  <a:lnTo>
                    <a:pt x="261643" y="0"/>
                  </a:lnTo>
                  <a:lnTo>
                    <a:pt x="261643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61643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11526" y="1101408"/>
            <a:ext cx="1793961" cy="622199"/>
            <a:chOff x="0" y="0"/>
            <a:chExt cx="472484" cy="1638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2484" cy="163871"/>
            </a:xfrm>
            <a:custGeom>
              <a:avLst/>
              <a:gdLst/>
              <a:ahLst/>
              <a:cxnLst/>
              <a:rect l="l" t="t" r="r" b="b"/>
              <a:pathLst>
                <a:path w="472484" h="163871">
                  <a:moveTo>
                    <a:pt x="0" y="0"/>
                  </a:moveTo>
                  <a:lnTo>
                    <a:pt x="472484" y="0"/>
                  </a:lnTo>
                  <a:lnTo>
                    <a:pt x="472484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72484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>
            <a:off x="13237440" y="1375983"/>
            <a:ext cx="478820" cy="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0" name="Group 40"/>
          <p:cNvGrpSpPr/>
          <p:nvPr/>
        </p:nvGrpSpPr>
        <p:grpSpPr>
          <a:xfrm>
            <a:off x="16132109" y="1101408"/>
            <a:ext cx="1793961" cy="622199"/>
            <a:chOff x="0" y="0"/>
            <a:chExt cx="472484" cy="1638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484" cy="163871"/>
            </a:xfrm>
            <a:custGeom>
              <a:avLst/>
              <a:gdLst/>
              <a:ahLst/>
              <a:cxnLst/>
              <a:rect l="l" t="t" r="r" b="b"/>
              <a:pathLst>
                <a:path w="472484" h="163871">
                  <a:moveTo>
                    <a:pt x="0" y="0"/>
                  </a:moveTo>
                  <a:lnTo>
                    <a:pt x="472484" y="0"/>
                  </a:lnTo>
                  <a:lnTo>
                    <a:pt x="472484" y="163871"/>
                  </a:lnTo>
                  <a:lnTo>
                    <a:pt x="0" y="163871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72484" cy="201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027334" y="2306619"/>
            <a:ext cx="2125282" cy="825538"/>
            <a:chOff x="0" y="0"/>
            <a:chExt cx="559745" cy="21742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59745" cy="217426"/>
            </a:xfrm>
            <a:custGeom>
              <a:avLst/>
              <a:gdLst/>
              <a:ahLst/>
              <a:cxnLst/>
              <a:rect l="l" t="t" r="r" b="b"/>
              <a:pathLst>
                <a:path w="559745" h="217426">
                  <a:moveTo>
                    <a:pt x="0" y="0"/>
                  </a:moveTo>
                  <a:lnTo>
                    <a:pt x="559745" y="0"/>
                  </a:lnTo>
                  <a:lnTo>
                    <a:pt x="559745" y="217426"/>
                  </a:lnTo>
                  <a:lnTo>
                    <a:pt x="0" y="217426"/>
                  </a:lnTo>
                  <a:close/>
                </a:path>
              </a:pathLst>
            </a:custGeom>
            <a:solidFill>
              <a:srgbClr val="807874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59745" cy="25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46" name="AutoShape 46"/>
          <p:cNvSpPr/>
          <p:nvPr/>
        </p:nvSpPr>
        <p:spPr>
          <a:xfrm>
            <a:off x="15653112" y="1400220"/>
            <a:ext cx="3742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7" name="AutoShape 47"/>
          <p:cNvSpPr/>
          <p:nvPr/>
        </p:nvSpPr>
        <p:spPr>
          <a:xfrm>
            <a:off x="17048139" y="1827558"/>
            <a:ext cx="1284" cy="37422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8" name="AutoShape 48"/>
          <p:cNvSpPr/>
          <p:nvPr/>
        </p:nvSpPr>
        <p:spPr>
          <a:xfrm>
            <a:off x="2534794" y="1427033"/>
            <a:ext cx="478820" cy="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Freeform 49"/>
          <p:cNvSpPr/>
          <p:nvPr/>
        </p:nvSpPr>
        <p:spPr>
          <a:xfrm>
            <a:off x="5493279" y="733784"/>
            <a:ext cx="1016850" cy="740066"/>
          </a:xfrm>
          <a:custGeom>
            <a:avLst/>
            <a:gdLst/>
            <a:ahLst/>
            <a:cxnLst/>
            <a:rect l="l" t="t" r="r" b="b"/>
            <a:pathLst>
              <a:path w="1016850" h="740066">
                <a:moveTo>
                  <a:pt x="0" y="740066"/>
                </a:moveTo>
                <a:lnTo>
                  <a:pt x="414282" y="740066"/>
                </a:lnTo>
                <a:cubicBezTo>
                  <a:pt x="540534" y="740066"/>
                  <a:pt x="642882" y="637718"/>
                  <a:pt x="642882" y="511466"/>
                </a:cubicBezTo>
                <a:lnTo>
                  <a:pt x="642882" y="186984"/>
                </a:lnTo>
                <a:cubicBezTo>
                  <a:pt x="642882" y="83716"/>
                  <a:pt x="726598" y="0"/>
                  <a:pt x="829866" y="0"/>
                </a:cubicBezTo>
                <a:lnTo>
                  <a:pt x="101685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0" name="Group 50"/>
          <p:cNvGrpSpPr/>
          <p:nvPr/>
        </p:nvGrpSpPr>
        <p:grpSpPr>
          <a:xfrm>
            <a:off x="11255290" y="3823040"/>
            <a:ext cx="5837819" cy="2679194"/>
            <a:chOff x="0" y="0"/>
            <a:chExt cx="1537533" cy="70563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37533" cy="705631"/>
            </a:xfrm>
            <a:custGeom>
              <a:avLst/>
              <a:gdLst/>
              <a:ahLst/>
              <a:cxnLst/>
              <a:rect l="l" t="t" r="r" b="b"/>
              <a:pathLst>
                <a:path w="1537533" h="705631">
                  <a:moveTo>
                    <a:pt x="0" y="0"/>
                  </a:moveTo>
                  <a:lnTo>
                    <a:pt x="1537533" y="0"/>
                  </a:lnTo>
                  <a:lnTo>
                    <a:pt x="1537533" y="705631"/>
                  </a:lnTo>
                  <a:lnTo>
                    <a:pt x="0" y="705631"/>
                  </a:ln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537533" cy="743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graphicFrame>
        <p:nvGraphicFramePr>
          <p:cNvPr id="53" name="Table 53"/>
          <p:cNvGraphicFramePr>
            <a:graphicFrameLocks noGrp="1"/>
          </p:cNvGraphicFramePr>
          <p:nvPr/>
        </p:nvGraphicFramePr>
        <p:xfrm>
          <a:off x="296869" y="4747736"/>
          <a:ext cx="5777076" cy="4317521"/>
        </p:xfrm>
        <a:graphic>
          <a:graphicData uri="http://schemas.openxmlformats.org/drawingml/2006/table">
            <a:tbl>
              <a:tblPr/>
              <a:tblGrid>
                <a:gridCol w="1925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3957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Amplitude Error [dB]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Phase Error [°]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Null Depth Limit [dB]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891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−19.5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891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−27.5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891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−33.6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891"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  <a:defRPr/>
                      </a:pPr>
                      <a:r>
                        <a:rPr lang="en-US" sz="1932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−39.6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4" name="Group 54"/>
          <p:cNvGrpSpPr/>
          <p:nvPr/>
        </p:nvGrpSpPr>
        <p:grpSpPr>
          <a:xfrm>
            <a:off x="273318" y="3554298"/>
            <a:ext cx="5602038" cy="1103716"/>
            <a:chOff x="0" y="0"/>
            <a:chExt cx="1475434" cy="29069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475434" cy="290691"/>
            </a:xfrm>
            <a:custGeom>
              <a:avLst/>
              <a:gdLst/>
              <a:ahLst/>
              <a:cxnLst/>
              <a:rect l="l" t="t" r="r" b="b"/>
              <a:pathLst>
                <a:path w="1475434" h="290691">
                  <a:moveTo>
                    <a:pt x="0" y="0"/>
                  </a:moveTo>
                  <a:lnTo>
                    <a:pt x="1475434" y="0"/>
                  </a:lnTo>
                  <a:lnTo>
                    <a:pt x="1475434" y="290691"/>
                  </a:lnTo>
                  <a:lnTo>
                    <a:pt x="0" y="290691"/>
                  </a:lnTo>
                  <a:close/>
                </a:path>
              </a:pathLst>
            </a:custGeom>
            <a:solidFill>
              <a:srgbClr val="312D2A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475434" cy="328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57" name="AutoShape 57"/>
          <p:cNvSpPr/>
          <p:nvPr/>
        </p:nvSpPr>
        <p:spPr>
          <a:xfrm>
            <a:off x="8648212" y="752834"/>
            <a:ext cx="17294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8" name="AutoShape 58"/>
          <p:cNvSpPr/>
          <p:nvPr/>
        </p:nvSpPr>
        <p:spPr>
          <a:xfrm>
            <a:off x="13831293" y="4282340"/>
            <a:ext cx="478820" cy="385"/>
          </a:xfrm>
          <a:prstGeom prst="line">
            <a:avLst/>
          </a:prstGeom>
          <a:ln w="38100" cap="flat">
            <a:solidFill>
              <a:srgbClr val="FAF7F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AutoShape 59"/>
          <p:cNvSpPr/>
          <p:nvPr/>
        </p:nvSpPr>
        <p:spPr>
          <a:xfrm flipH="1">
            <a:off x="15578526" y="4533840"/>
            <a:ext cx="0" cy="362818"/>
          </a:xfrm>
          <a:prstGeom prst="line">
            <a:avLst/>
          </a:prstGeom>
          <a:ln w="38100" cap="flat">
            <a:solidFill>
              <a:srgbClr val="FAF7F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0" name="AutoShape 60"/>
          <p:cNvSpPr/>
          <p:nvPr/>
        </p:nvSpPr>
        <p:spPr>
          <a:xfrm flipH="1">
            <a:off x="15578526" y="5510748"/>
            <a:ext cx="0" cy="362818"/>
          </a:xfrm>
          <a:prstGeom prst="line">
            <a:avLst/>
          </a:prstGeom>
          <a:ln w="38100" cap="flat">
            <a:solidFill>
              <a:srgbClr val="FAF7F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1" name="TextBox 61"/>
          <p:cNvSpPr txBox="1"/>
          <p:nvPr/>
        </p:nvSpPr>
        <p:spPr>
          <a:xfrm>
            <a:off x="6582473" y="1288972"/>
            <a:ext cx="1969560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ADRV9026 #2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27631" y="1986966"/>
            <a:ext cx="846314" cy="44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31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DEVCLK + SYSREF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6146" y="1022757"/>
            <a:ext cx="2255189" cy="73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41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SiT9366</a:t>
            </a:r>
          </a:p>
          <a:p>
            <a:pPr algn="ctr">
              <a:lnSpc>
                <a:spcPts val="1976"/>
              </a:lnSpc>
              <a:spcBef>
                <a:spcPct val="0"/>
              </a:spcBef>
            </a:pPr>
            <a:r>
              <a:rPr lang="en-US" sz="141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122.88 MHz Master Reference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057074" y="1069486"/>
            <a:ext cx="2255189" cy="73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41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HMC7044B</a:t>
            </a:r>
          </a:p>
          <a:p>
            <a:pPr algn="ctr">
              <a:lnSpc>
                <a:spcPts val="1976"/>
              </a:lnSpc>
              <a:spcBef>
                <a:spcPct val="0"/>
              </a:spcBef>
            </a:pPr>
            <a:r>
              <a:rPr lang="en-US" sz="141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Clock / SYSREF Distribution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82473" y="2097774"/>
            <a:ext cx="1969560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ADRV9026 #3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84159" y="2860582"/>
            <a:ext cx="1969560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ADRV9026 #4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583822" y="1164825"/>
            <a:ext cx="993426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FPGA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656859" y="1693466"/>
            <a:ext cx="1890551" cy="442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  <a:spcBef>
                <a:spcPct val="0"/>
              </a:spcBef>
            </a:pPr>
            <a:r>
              <a:rPr lang="en-US" sz="13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JESD204C High-Speed Serial Links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347590" y="1168662"/>
            <a:ext cx="595742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DAC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833612" y="1206214"/>
            <a:ext cx="1795508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Upconverter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275662" y="1227499"/>
            <a:ext cx="1475468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RF Output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6239318" y="2362929"/>
            <a:ext cx="1701314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Existing GNSS Receiver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58318" y="3752197"/>
            <a:ext cx="5276700" cy="67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FAF7F0"/>
                </a:solidFill>
                <a:latin typeface="Open Sauce"/>
                <a:ea typeface="Open Sauce"/>
                <a:cs typeface="Open Sauce"/>
                <a:sym typeface="Open Sauce"/>
              </a:rPr>
              <a:t>Calibration injection before LNA, common signal distributed to all 8 channels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73451" y="4097398"/>
            <a:ext cx="2419005" cy="422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1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Interface</a:t>
            </a:r>
            <a:r>
              <a:rPr lang="en-US" sz="24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294191" y="4544678"/>
            <a:ext cx="4786344" cy="235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440" lvl="1" indent="-236220" algn="l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 antenna elements</a:t>
            </a:r>
            <a:endParaRPr lang="tr-TR" sz="2150" dirty="0"/>
          </a:p>
          <a:p>
            <a:pPr marL="472440" lvl="1" indent="-236220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L1 sampling rate: 76.8 MSPS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marL="472440" lvl="1" indent="-236220" algn="l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L2+L5 sampling rate: 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marL="472440" lvl="1" indent="-236220" algn="l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122.88 MSPS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  <a:p>
            <a:pPr marL="472440" lvl="1" indent="-236220" algn="l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ADC output: 16-bit I + 16-bit Q = 32 bits/sample</a:t>
            </a:r>
            <a:endParaRPr lang="en-US" sz="2150" dirty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6564678" y="7279042"/>
            <a:ext cx="4455557" cy="73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8"/>
              </a:lnSpc>
              <a:spcBef>
                <a:spcPct val="0"/>
              </a:spcBef>
            </a:pPr>
            <a:r>
              <a:rPr lang="en-US" sz="205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R_total</a:t>
            </a:r>
            <a:r>
              <a:rPr lang="en-US" sz="20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= 8 × (76.8 + 122.88) × 10^6 × 32 ≈ 51.12 Gb/s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442482" y="8335565"/>
            <a:ext cx="4699948" cy="147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interface:</a:t>
            </a:r>
            <a:r>
              <a:rPr lang="en-US" sz="20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JESD204C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Reason:</a:t>
            </a:r>
            <a:r>
              <a:rPr lang="en-US" sz="208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Native ADRV9026 support, lower 64b/66b overhead, and sufficient lane-rate margin.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251163" y="6708314"/>
            <a:ext cx="3044218" cy="38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8"/>
              </a:lnSpc>
              <a:spcBef>
                <a:spcPct val="0"/>
              </a:spcBef>
            </a:pPr>
            <a:r>
              <a:rPr lang="en-US" sz="23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FPGA Selection :</a:t>
            </a:r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11255290" y="7164542"/>
            <a:ext cx="6685342" cy="2705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  <a:spcBef>
                <a:spcPct val="0"/>
              </a:spcBef>
            </a:pPr>
            <a:r>
              <a:rPr lang="en-US" sz="1920" b="1" i="1" u="sng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AMD Kintex UltraScale+ XQKU5P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16 × GTY transceivers — up to 28.2 Gb/s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1824 DSP slices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~34 Mb on-chip memory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Supports the required JESD204C throughput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27 × 27 mm package</a:t>
            </a:r>
          </a:p>
          <a:p>
            <a:pPr marL="414546" lvl="1" indent="-207273" algn="l">
              <a:lnSpc>
                <a:spcPts val="2688"/>
              </a:lnSpc>
              <a:spcBef>
                <a:spcPct val="0"/>
              </a:spcBef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Selected for high-speed interface capability, power efficiency, and compact size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407603" y="4075131"/>
            <a:ext cx="2329604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Calibration Source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404199" y="4106923"/>
            <a:ext cx="2329604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1-to-8 Distribution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404199" y="5009400"/>
            <a:ext cx="2536598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Injection Before LNA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789366" y="5906778"/>
            <a:ext cx="1766264" cy="33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 RF Channels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36146" y="224801"/>
            <a:ext cx="2860521" cy="4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26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Synchronization</a:t>
            </a:r>
            <a:r>
              <a:rPr lang="en-US" sz="26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73318" y="2860582"/>
            <a:ext cx="2010074" cy="43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26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Calibration</a:t>
            </a:r>
            <a:r>
              <a:rPr lang="en-US" sz="26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8723190" y="2095857"/>
          <a:ext cx="9436538" cy="6001713"/>
        </p:xfrm>
        <a:graphic>
          <a:graphicData uri="http://schemas.openxmlformats.org/drawingml/2006/table">
            <a:tbl>
              <a:tblPr/>
              <a:tblGrid>
                <a:gridCol w="16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5547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Part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Availability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Approximate Unit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0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ADL5521ACPZ-R7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 $5.43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0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L1 Filter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AM1600S1059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30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L2/L5 Filter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AFII-SW-0065-T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 $2.64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30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RFIC / ADC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ADRV9026BBCZ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 $1,409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306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FPGA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XQKU5P-1FFRB676I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 $4,000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5547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Reference Oscillator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SiT9366 (122.88 MHz)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≈ $25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577715" y="372632"/>
            <a:ext cx="1313256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Thermal Phase Stability &amp; BOM / SWaP-C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972" y="1403352"/>
            <a:ext cx="6894969" cy="458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Temperature-Induced Phase Drift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273" y="1960169"/>
            <a:ext cx="7312495" cy="200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747" lvl="1" indent="-246374" algn="l">
              <a:lnSpc>
                <a:spcPts val="3195"/>
              </a:lnSpc>
              <a:buFont typeface="Arial"/>
              <a:buChar char="•"/>
            </a:pPr>
            <a:r>
              <a:rPr lang="en-US" sz="22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Temperature changes cause channel-to-channel phase drift in RF/PCB paths.</a:t>
            </a:r>
          </a:p>
          <a:p>
            <a:pPr marL="492747" lvl="1" indent="-246374" algn="l">
              <a:lnSpc>
                <a:spcPts val="3195"/>
              </a:lnSpc>
              <a:buFont typeface="Arial"/>
              <a:buChar char="•"/>
            </a:pPr>
            <a:r>
              <a:rPr lang="en-US" sz="22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Phase mismatch reduces achievable null depth.</a:t>
            </a:r>
          </a:p>
          <a:p>
            <a:pPr marL="492747" lvl="1" indent="-246374" algn="l">
              <a:lnSpc>
                <a:spcPts val="3195"/>
              </a:lnSpc>
              <a:spcBef>
                <a:spcPct val="0"/>
              </a:spcBef>
              <a:buFont typeface="Arial"/>
              <a:buChar char="•"/>
            </a:pPr>
            <a:r>
              <a:rPr lang="en-US" sz="22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Periodic calibration updates the channel phase-correction coefficients.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32944" y="1494792"/>
            <a:ext cx="7417028" cy="468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2832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Component BOM 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6954" y="4349173"/>
            <a:ext cx="2691813" cy="382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4"/>
              </a:lnSpc>
              <a:spcBef>
                <a:spcPct val="0"/>
              </a:spcBef>
            </a:pPr>
            <a:r>
              <a:rPr lang="en-US" sz="225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Power Budget</a:t>
            </a:r>
            <a:r>
              <a:rPr lang="en-US" sz="2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en-US" sz="2250" dirty="0"/>
          </a:p>
        </p:txBody>
      </p:sp>
      <p:sp>
        <p:nvSpPr>
          <p:cNvPr id="8" name="TextBox 8"/>
          <p:cNvSpPr txBox="1"/>
          <p:nvPr/>
        </p:nvSpPr>
        <p:spPr>
          <a:xfrm>
            <a:off x="128273" y="4811774"/>
            <a:ext cx="4627056" cy="3304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3449" lvl="1" indent="-196724" algn="l">
              <a:lnSpc>
                <a:spcPts val="2551"/>
              </a:lnSpc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 × ADRV9026: 16.76 W</a:t>
            </a:r>
          </a:p>
          <a:p>
            <a:pPr marL="393449" lvl="1" indent="-196724" algn="l">
              <a:lnSpc>
                <a:spcPts val="2551"/>
              </a:lnSpc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 × ADL5521: 2.40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XQKU5P FPGA: ~10.0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HMC7044B: 1.93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SiT9366: 0.26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DAC + Upconverter reserve: ~2.0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Electronics subtotal: ~33.4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Estimated total power: ~40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Requirement: ≤ 50 W</a:t>
            </a:r>
          </a:p>
          <a:p>
            <a:pPr marL="393449" lvl="1" indent="-196724" algn="l">
              <a:lnSpc>
                <a:spcPts val="2551"/>
              </a:lnSpc>
              <a:spcBef>
                <a:spcPct val="0"/>
              </a:spcBef>
              <a:buFont typeface="Arial"/>
              <a:buChar char="•"/>
            </a:pPr>
            <a:r>
              <a:rPr lang="en-US" sz="18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Power margin: ~10 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67933" y="4349166"/>
            <a:ext cx="2683991" cy="382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3"/>
              </a:lnSpc>
              <a:spcBef>
                <a:spcPct val="0"/>
              </a:spcBef>
            </a:pPr>
            <a:r>
              <a:rPr lang="en-US" sz="225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Mass Budget</a:t>
            </a:r>
            <a:r>
              <a:rPr lang="en-US" sz="225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450325" y="4812743"/>
            <a:ext cx="4074745" cy="376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PCB + electronics: ~0.35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Aluminum enclosure + baseplate: ~0.75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Connectors + shielding + wiring: ~0.20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Mechanical hardware: ~0.10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Engineering reserve: ~0.20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Estimated total mass: ~1.60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Requirement: ≤ 2.0 kg</a:t>
            </a:r>
          </a:p>
          <a:p>
            <a:pPr marL="417198" lvl="1" indent="-208599" algn="l">
              <a:lnSpc>
                <a:spcPts val="2705"/>
              </a:lnSpc>
              <a:spcBef>
                <a:spcPct val="0"/>
              </a:spcBef>
              <a:buFont typeface="Arial"/>
              <a:buChar char="•"/>
            </a:pP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Mass margin: ~0.40 kg</a:t>
            </a:r>
          </a:p>
          <a:p>
            <a:pPr algn="l">
              <a:lnSpc>
                <a:spcPts val="2705"/>
              </a:lnSpc>
              <a:spcBef>
                <a:spcPct val="0"/>
              </a:spcBef>
            </a:pPr>
            <a:endParaRPr lang="en-US" sz="1932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0274" y="8576953"/>
            <a:ext cx="16472922" cy="323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 cost drivers: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ADRV9026 RFICs and the XQKU5P FPGA, due to their much higher unit cost than the remaining RF components.</a:t>
            </a:r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38755" y="9025076"/>
            <a:ext cx="17807070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Supply risk:</a:t>
            </a:r>
            <a:r>
              <a:rPr lang="en-US" sz="19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ADRV9026 and XQKU5P are high-cost, specialized components; AM1600S1059 has limited sourcing.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274" y="9457958"/>
            <a:ext cx="16727537" cy="331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5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Alternatives:</a:t>
            </a: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ADRV9026 → TI AFE7950; XQKU5P → XCKU5P-2FFVB676I; AM1600S1059 → EMA4F1580P80G30B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2695" y="923925"/>
            <a:ext cx="5473988" cy="820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2695" y="1564208"/>
            <a:ext cx="17325305" cy="773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3"/>
              </a:lnSpc>
            </a:pPr>
            <a:endParaRPr/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E. D. Kaplan and C. J. Hegarty, Understanding GPS/GNSS: Principles and Applications, 3rd ed., Artech House.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B. Razavi, RF Microelectronics, 2nd ed., Pearson.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D. M. Pozar, Microwave Engineering, 4th ed., Wiley.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U.S. Space Force, IS-GPS-200N – Navstar GPS Space Segment / Navigation User Interfaces.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U.S. Space Force, IS-GPS-705J – GPS L5 Interfaces.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European Union / EUSPA, Galileo Open Service Signal-In-Space ICD.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China Satellite Navigation Office, BeiDou Open-Service SIS ICDs.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GLONASS, Interface Control Document – Open Service Navigation Signals in L1/L2.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Analog Devices, ADL5521 Low Noise Amplifier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Johanson Technology, 1224DP15A1572001E GNSS Diplexer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Anatech Electronics, AM1600S1059 SAW Band-Pass Filter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Abracon, AFII-SW-0065 Multi-Band GNSS Filter Product Specification.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Analog Devices, ADRV9026 Integrated Quad RF Transceiver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Analog Devices, ADRV9026 FAQ / EngineerZone – Rx ADC Resolution and SFDR.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Analog Devices, HMC7044B Clock Generator / Jitter Attenuator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SiTime, SiT9366 Ultra-Low-Jitter Differential Oscillator Data Sheet.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AMD, Kintex UltraScale+ XQ / XQKU5P Device Documentation.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Texas Instruments, AFE7950 RF-Sampling Transceiver Documentation.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Echo Microwave, EMA4F1580P80G30B Filter Specification. </a:t>
            </a:r>
          </a:p>
          <a:p>
            <a:pPr marL="438503" lvl="1" indent="-219251" algn="l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Manufacturer/distributor web listings (DigiKey, Avnet, Analog Devices, AMD, SiTime, Anatech, Abracon), accessed Oct. 2026, for approximate pricing and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Özel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ROKETSAN INTERVIEW ASSIGNMENt</dc:title>
  <cp:revision>340</cp:revision>
  <dcterms:created xsi:type="dcterms:W3CDTF">2006-08-16T00:00:00Z</dcterms:created>
  <dcterms:modified xsi:type="dcterms:W3CDTF">2026-10-06T10:20:42Z</dcterms:modified>
  <dc:identifier>DAHWqyoIqno</dc:identifier>
</cp:coreProperties>
</file>